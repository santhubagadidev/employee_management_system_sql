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60" r:id="rId4"/>
    <p:sldId id="261" r:id="rId5"/>
    <p:sldId id="262" r:id="rId6"/>
    <p:sldId id="263" r:id="rId7"/>
    <p:sldId id="264" r:id="rId8"/>
    <p:sldId id="265" r:id="rId9"/>
    <p:sldId id="266" r:id="rId10"/>
    <p:sldId id="267" r:id="rId11"/>
    <p:sldId id="269" r:id="rId12"/>
    <p:sldId id="268" r:id="rId13"/>
    <p:sldId id="270" r:id="rId14"/>
    <p:sldId id="271" r:id="rId15"/>
    <p:sldId id="272" r:id="rId16"/>
    <p:sldId id="274" r:id="rId17"/>
    <p:sldId id="273" r:id="rId18"/>
    <p:sldId id="275" r:id="rId19"/>
    <p:sldId id="276" r:id="rId20"/>
    <p:sldId id="277" r:id="rId21"/>
    <p:sldId id="259" r:id="rId22"/>
  </p:sldIdLst>
  <p:sldSz cx="12192000" cy="6858000"/>
  <p:notesSz cx="6858000" cy="9144000"/>
  <p:embeddedFontLst>
    <p:embeddedFont>
      <p:font typeface="Calibri" panose="020F0502020204030204" pitchFamily="34" charset="0"/>
      <p:regular r:id="rId24"/>
      <p:bold r:id="rId25"/>
      <p:italic r:id="rId26"/>
      <p:boldItalic r:id="rId27"/>
    </p:embeddedFont>
    <p:embeddedFont>
      <p:font typeface="Lato Black" panose="020B0604020202020204" charset="0"/>
      <p:bold r:id="rId28"/>
      <p:boldItalic r:id="rId29"/>
    </p:embeddedFont>
    <p:embeddedFont>
      <p:font typeface="Libre Baskerville" panose="020B0604020202020204" charset="0"/>
      <p:regular r:id="rId30"/>
      <p:bold r:id="rId31"/>
      <p:italic r:id="rId32"/>
    </p:embeddedFont>
    <p:embeddedFont>
      <p:font typeface="Tahoma" panose="020B0604030504040204" pitchFamily="3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3319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74738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4408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5289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2285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0783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35680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8180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8919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85187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50544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8258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6644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04673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383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41780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5628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72950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76201"/>
            <a:ext cx="12190815" cy="6934201"/>
          </a:xfrm>
          <a:prstGeom prst="rect">
            <a:avLst/>
          </a:prstGeom>
          <a:noFill/>
          <a:ln>
            <a:noFill/>
          </a:ln>
        </p:spPr>
      </p:pic>
      <p:sp>
        <p:nvSpPr>
          <p:cNvPr id="99" name="Google Shape;99;p1"/>
          <p:cNvSpPr txBox="1"/>
          <p:nvPr/>
        </p:nvSpPr>
        <p:spPr>
          <a:xfrm>
            <a:off x="2472904" y="3717986"/>
            <a:ext cx="7246189"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2000" b="1" i="0" u="none" strike="noStrike" cap="none" dirty="0">
                <a:solidFill>
                  <a:schemeClr val="dk1"/>
                </a:solidFill>
                <a:latin typeface="Tahoma" panose="020B0604030504040204" pitchFamily="34" charset="0"/>
                <a:ea typeface="Tahoma" panose="020B0604030504040204" pitchFamily="34" charset="0"/>
                <a:cs typeface="Tahoma" panose="020B0604030504040204" pitchFamily="34" charset="0"/>
                <a:sym typeface="Calibri"/>
              </a:rPr>
              <a:t>Employee Management System</a:t>
            </a:r>
            <a:endParaRPr sz="2000" b="1" i="0" u="none" strike="noStrike" cap="none" dirty="0">
              <a:solidFill>
                <a:srgbClr val="000000"/>
              </a:solidFill>
              <a:latin typeface="Tahoma" panose="020B0604030504040204" pitchFamily="34" charset="0"/>
              <a:ea typeface="Tahoma" panose="020B0604030504040204" pitchFamily="34" charset="0"/>
              <a:cs typeface="Tahoma" panose="020B0604030504040204" pitchFamily="34"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1296612" y="2010372"/>
            <a:ext cx="10062268" cy="1200288"/>
          </a:xfrm>
          <a:prstGeom prst="rect">
            <a:avLst/>
          </a:prstGeom>
          <a:noFill/>
          <a:ln>
            <a:noFill/>
          </a:ln>
        </p:spPr>
        <p:txBody>
          <a:bodyPr spcFirstLastPara="1" wrap="square" lIns="91425" tIns="45700" rIns="91425" bIns="45700" anchor="t" anchorCtr="0">
            <a:spAutoFit/>
          </a:bodyPr>
          <a:lstStyle/>
          <a:p>
            <a:pPr marL="285750" lvl="0" indent="-323850">
              <a:buClr>
                <a:schemeClr val="dk1"/>
              </a:buClr>
              <a:buSzPts val="2400"/>
              <a:buFont typeface="Arial"/>
              <a:buChar char="•"/>
            </a:pPr>
            <a:r>
              <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Name: </a:t>
            </a:r>
            <a:r>
              <a:rPr lang="en-US" sz="2400"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PAVAN SAI KUPPANNAGARI</a:t>
            </a:r>
            <a:endPar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endParaRPr>
          </a:p>
          <a:p>
            <a:pPr marL="285750" lvl="0" indent="-323850">
              <a:buClr>
                <a:schemeClr val="dk1"/>
              </a:buClr>
              <a:buSzPts val="2400"/>
              <a:buFont typeface="Arial"/>
              <a:buChar char="•"/>
            </a:pPr>
            <a:r>
              <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Education Background: </a:t>
            </a:r>
            <a:r>
              <a:rPr lang="en-US" sz="2400"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B. Tech</a:t>
            </a:r>
            <a:endPar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endParaRPr>
          </a:p>
          <a:p>
            <a:pPr marL="285750" lvl="0" indent="-323850">
              <a:buClr>
                <a:schemeClr val="dk1"/>
              </a:buClr>
              <a:buSzPts val="2400"/>
              <a:buFont typeface="Arial"/>
              <a:buChar char="•"/>
            </a:pPr>
            <a:r>
              <a:rPr lang="en-US" sz="2400" b="1" dirty="0" err="1">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Linkedin</a:t>
            </a:r>
            <a:r>
              <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 </a:t>
            </a:r>
            <a:r>
              <a:rPr lang="en-US" sz="2400"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rPr>
              <a:t>https://www.linkedin.com/pavansaikuppannagari</a:t>
            </a:r>
            <a:endParaRPr lang="en-US" sz="2400" b="1" dirty="0">
              <a:solidFill>
                <a:schemeClr val="dk1"/>
              </a:solidFill>
              <a:latin typeface="Times New Roman" panose="02020603050405020304" pitchFamily="18" charset="0"/>
              <a:ea typeface="Tahoma" panose="020B0604030504040204" pitchFamily="34" charset="0"/>
              <a:cs typeface="Times New Roman" panose="02020603050405020304" pitchFamily="18" charset="0"/>
              <a:sym typeface="Calibri"/>
            </a:endParaRPr>
          </a:p>
        </p:txBody>
      </p:sp>
      <p:sp>
        <p:nvSpPr>
          <p:cNvPr id="105" name="Google Shape;105;p3"/>
          <p:cNvSpPr txBox="1"/>
          <p:nvPr/>
        </p:nvSpPr>
        <p:spPr>
          <a:xfrm>
            <a:off x="986456" y="1127754"/>
            <a:ext cx="6099463" cy="510869"/>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400" b="1" i="0" u="none" strike="noStrike" cap="none" dirty="0">
                <a:solidFill>
                  <a:srgbClr val="FF0000"/>
                </a:solidFill>
                <a:latin typeface="Lato Black"/>
                <a:ea typeface="Lato Black"/>
                <a:cs typeface="Lato Black"/>
                <a:sym typeface="Lato Black"/>
              </a:rPr>
              <a:t>About </a:t>
            </a:r>
            <a:r>
              <a:rPr lang="en-IN" sz="3400" b="1" dirty="0">
                <a:solidFill>
                  <a:srgbClr val="FF0000"/>
                </a:solidFill>
                <a:latin typeface="Lato Black"/>
                <a:ea typeface="Lato Black"/>
                <a:cs typeface="Lato Black"/>
                <a:sym typeface="Lato Black"/>
              </a:rPr>
              <a:t>Us:</a:t>
            </a:r>
            <a:endParaRPr sz="3400" b="1" i="0" u="none" strike="noStrike" cap="none" dirty="0">
              <a:solidFill>
                <a:srgbClr val="FF0000"/>
              </a:solidFill>
              <a:latin typeface="Calibri"/>
              <a:ea typeface="Calibri"/>
              <a:cs typeface="Calibri"/>
              <a:sym typeface="Calibri"/>
            </a:endParaRPr>
          </a:p>
        </p:txBody>
      </p:sp>
      <p:sp>
        <p:nvSpPr>
          <p:cNvPr id="4" name="Google Shape;104;p3">
            <a:extLst>
              <a:ext uri="{FF2B5EF4-FFF2-40B4-BE49-F238E27FC236}">
                <a16:creationId xmlns:a16="http://schemas.microsoft.com/office/drawing/2014/main" id="{61730423-A4A2-40FB-8124-98C4996AD7B1}"/>
              </a:ext>
            </a:extLst>
          </p:cNvPr>
          <p:cNvSpPr txBox="1"/>
          <p:nvPr/>
        </p:nvSpPr>
        <p:spPr>
          <a:xfrm>
            <a:off x="1296612" y="3540056"/>
            <a:ext cx="9137708" cy="1200288"/>
          </a:xfrm>
          <a:prstGeom prst="rect">
            <a:avLst/>
          </a:prstGeom>
          <a:noFill/>
          <a:ln>
            <a:noFill/>
          </a:ln>
        </p:spPr>
        <p:txBody>
          <a:bodyPr spcFirstLastPara="1" wrap="square" lIns="91425" tIns="45700" rIns="91425" bIns="45700" anchor="t" anchorCtr="0">
            <a:spAutoFit/>
          </a:bodyPr>
          <a:lstStyle/>
          <a:p>
            <a:pPr marL="285750" marR="0" lvl="0" indent="-323850" algn="l" rtl="0">
              <a:lnSpc>
                <a:spcPct val="100000"/>
              </a:lnSpc>
              <a:spcBef>
                <a:spcPts val="0"/>
              </a:spcBef>
              <a:spcAft>
                <a:spcPts val="0"/>
              </a:spcAft>
              <a:buClr>
                <a:schemeClr val="dk1"/>
              </a:buClr>
              <a:buSzPts val="2400"/>
              <a:buFont typeface="Arial"/>
              <a:buChar char="•"/>
            </a:pP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Name: </a:t>
            </a:r>
            <a:r>
              <a:rPr lang="en-US"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BAGADI SANTHOSH KUMAR</a:t>
            </a:r>
            <a:endPar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Education Backgr</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ound: </a:t>
            </a:r>
            <a:r>
              <a:rPr lang="en-US" sz="2400" dirty="0" err="1">
                <a:solidFill>
                  <a:schemeClr val="dk1"/>
                </a:solidFill>
                <a:latin typeface="Times New Roman" panose="02020603050405020304" pitchFamily="18" charset="0"/>
                <a:ea typeface="Calibri"/>
                <a:cs typeface="Times New Roman" panose="02020603050405020304" pitchFamily="18" charset="0"/>
                <a:sym typeface="Calibri"/>
              </a:rPr>
              <a:t>B.Tech</a:t>
            </a:r>
            <a:endParaRPr lang="en-US" sz="24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marR="0" lvl="0" indent="-323850" algn="l" rtl="0">
              <a:lnSpc>
                <a:spcPct val="100000"/>
              </a:lnSpc>
              <a:spcBef>
                <a:spcPts val="0"/>
              </a:spcBef>
              <a:spcAft>
                <a:spcPts val="0"/>
              </a:spcAft>
              <a:buClr>
                <a:schemeClr val="dk1"/>
              </a:buClr>
              <a:buSzPts val="2400"/>
              <a:buFont typeface="Arial"/>
              <a:buChar char="•"/>
            </a:pPr>
            <a:r>
              <a:rPr lang="en-US" sz="2400" b="1" i="0" u="none" strike="noStrike" cap="none" dirty="0" err="1">
                <a:solidFill>
                  <a:schemeClr val="dk1"/>
                </a:solidFill>
                <a:latin typeface="Times New Roman" panose="02020603050405020304" pitchFamily="18" charset="0"/>
                <a:ea typeface="Calibri"/>
                <a:cs typeface="Times New Roman" panose="02020603050405020304" pitchFamily="18" charset="0"/>
                <a:sym typeface="Calibri"/>
              </a:rPr>
              <a:t>Linkedin</a:t>
            </a:r>
            <a:r>
              <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 </a:t>
            </a:r>
            <a:r>
              <a:rPr lang="en-US" sz="240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https://www.linkedin.com/santhoshbagadi</a:t>
            </a:r>
            <a:endParaRPr lang="en-US" sz="24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600" b="1" dirty="0">
                <a:solidFill>
                  <a:srgbClr val="FF0000"/>
                </a:solidFill>
                <a:latin typeface="Tahoma" panose="020B0604030504040204" pitchFamily="34" charset="0"/>
                <a:ea typeface="Tahoma" panose="020B0604030504040204" pitchFamily="34" charset="0"/>
                <a:cs typeface="Tahoma" panose="020B0604030504040204" pitchFamily="34" charset="0"/>
              </a:rPr>
              <a:t>Objective:</a:t>
            </a:r>
            <a:endParaRPr sz="36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1" name="Google Shape;111;p4"/>
          <p:cNvSpPr txBox="1">
            <a:spLocks noGrp="1"/>
          </p:cNvSpPr>
          <p:nvPr>
            <p:ph type="body" idx="1"/>
          </p:nvPr>
        </p:nvSpPr>
        <p:spPr>
          <a:xfrm>
            <a:off x="722980" y="1040383"/>
            <a:ext cx="10515600" cy="2236217"/>
          </a:xfrm>
          <a:prstGeom prst="rect">
            <a:avLst/>
          </a:prstGeom>
          <a:noFill/>
          <a:ln>
            <a:noFill/>
          </a:ln>
        </p:spPr>
        <p:txBody>
          <a:bodyPr spcFirstLastPara="1" wrap="square" lIns="91425" tIns="45700" rIns="91425" bIns="45700" anchor="t" anchorCtr="0">
            <a:normAutofit/>
          </a:bodyPr>
          <a:lstStyle/>
          <a:p>
            <a:r>
              <a:rPr lang="en-US" sz="2400" dirty="0">
                <a:latin typeface="Times New Roman" panose="02020603050405020304" pitchFamily="18" charset="0"/>
                <a:cs typeface="Times New Roman" panose="02020603050405020304" pitchFamily="18" charset="0"/>
              </a:rPr>
              <a:t>Build a comprehensive SQL-based solution for managing employee data.</a:t>
            </a:r>
          </a:p>
          <a:p>
            <a:r>
              <a:rPr lang="en-US" sz="2400" dirty="0">
                <a:latin typeface="Times New Roman" panose="02020603050405020304" pitchFamily="18" charset="0"/>
                <a:cs typeface="Times New Roman" panose="02020603050405020304" pitchFamily="18" charset="0"/>
              </a:rPr>
              <a:t>Provide a unified platform for tracking employee personal information, roles, departments, salaries, qualifications, leaves, and payroll.</a:t>
            </a:r>
          </a:p>
          <a:p>
            <a:r>
              <a:rPr lang="en-US" sz="2400" dirty="0">
                <a:latin typeface="Times New Roman" panose="02020603050405020304" pitchFamily="18" charset="0"/>
                <a:cs typeface="Times New Roman" panose="02020603050405020304" pitchFamily="18" charset="0"/>
              </a:rPr>
              <a:t>Address HR and managerial needs for operational efficiency, data integrity, and secure information access.</a:t>
            </a:r>
          </a:p>
          <a:p>
            <a:pPr marL="0" lvl="0" indent="0" algn="l" rtl="0">
              <a:lnSpc>
                <a:spcPct val="90000"/>
              </a:lnSpc>
              <a:spcBef>
                <a:spcPts val="1000"/>
              </a:spcBef>
              <a:spcAft>
                <a:spcPts val="0"/>
              </a:spcAft>
              <a:buClr>
                <a:schemeClr val="dk1"/>
              </a:buClr>
              <a:buSzPts val="2800"/>
              <a:buNone/>
            </a:pPr>
            <a:endParaRPr sz="24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3586A112-53C9-4BAA-9E06-979EB622DA80}"/>
              </a:ext>
            </a:extLst>
          </p:cNvPr>
          <p:cNvGrpSpPr/>
          <p:nvPr/>
        </p:nvGrpSpPr>
        <p:grpSpPr>
          <a:xfrm>
            <a:off x="208472" y="2973165"/>
            <a:ext cx="11030108" cy="3258345"/>
            <a:chOff x="208472" y="2973165"/>
            <a:chExt cx="11030108" cy="3258345"/>
          </a:xfrm>
        </p:grpSpPr>
        <p:sp>
          <p:nvSpPr>
            <p:cNvPr id="6" name="Google Shape;110;p4">
              <a:extLst>
                <a:ext uri="{FF2B5EF4-FFF2-40B4-BE49-F238E27FC236}">
                  <a16:creationId xmlns:a16="http://schemas.microsoft.com/office/drawing/2014/main" id="{16DAE9F7-0651-41C1-AA30-D8ACAC724406}"/>
                </a:ext>
              </a:extLst>
            </p:cNvPr>
            <p:cNvSpPr txBox="1">
              <a:spLocks/>
            </p:cNvSpPr>
            <p:nvPr/>
          </p:nvSpPr>
          <p:spPr>
            <a:xfrm>
              <a:off x="208472" y="2973165"/>
              <a:ext cx="10515600"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3600" b="1" dirty="0">
                  <a:solidFill>
                    <a:srgbClr val="FF0000"/>
                  </a:solidFill>
                  <a:latin typeface="Tahoma" panose="020B0604030504040204" pitchFamily="34" charset="0"/>
                  <a:ea typeface="Tahoma" panose="020B0604030504040204" pitchFamily="34" charset="0"/>
                  <a:cs typeface="Tahoma" panose="020B0604030504040204" pitchFamily="34" charset="0"/>
                </a:rPr>
                <a:t>Goals:</a:t>
              </a:r>
            </a:p>
          </p:txBody>
        </p:sp>
        <p:sp>
          <p:nvSpPr>
            <p:cNvPr id="7" name="Google Shape;111;p4">
              <a:extLst>
                <a:ext uri="{FF2B5EF4-FFF2-40B4-BE49-F238E27FC236}">
                  <a16:creationId xmlns:a16="http://schemas.microsoft.com/office/drawing/2014/main" id="{802DE9B4-8D46-4809-AED5-C12C26A6C740}"/>
                </a:ext>
              </a:extLst>
            </p:cNvPr>
            <p:cNvSpPr txBox="1">
              <a:spLocks/>
            </p:cNvSpPr>
            <p:nvPr/>
          </p:nvSpPr>
          <p:spPr>
            <a:xfrm>
              <a:off x="722980" y="3995293"/>
              <a:ext cx="10515600" cy="223621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sz="2400" dirty="0">
                  <a:latin typeface="Times New Roman" panose="02020603050405020304" pitchFamily="18" charset="0"/>
                  <a:cs typeface="Times New Roman" panose="02020603050405020304" pitchFamily="18" charset="0"/>
                </a:rPr>
                <a:t>Streamline HR operations: hiring, payroll, leave management, and analytics.</a:t>
              </a:r>
            </a:p>
            <a:p>
              <a:r>
                <a:rPr lang="en-US" sz="2400" dirty="0">
                  <a:latin typeface="Times New Roman" panose="02020603050405020304" pitchFamily="18" charset="0"/>
                  <a:cs typeface="Times New Roman" panose="02020603050405020304" pitchFamily="18" charset="0"/>
                </a:rPr>
                <a:t>Ensure accuracy by enforcing relational integrity through foreign keys and constraints.</a:t>
              </a:r>
            </a:p>
            <a:p>
              <a:r>
                <a:rPr lang="en-US" sz="2400" dirty="0">
                  <a:latin typeface="Times New Roman" panose="02020603050405020304" pitchFamily="18" charset="0"/>
                  <a:cs typeface="Times New Roman" panose="02020603050405020304" pitchFamily="18" charset="0"/>
                </a:rPr>
                <a:t>Enable actionable business insights using advanced SQL queries for real-time decision-making.</a:t>
              </a:r>
            </a:p>
          </p:txBody>
        </p:sp>
      </p:grpSp>
    </p:spTree>
    <p:extLst>
      <p:ext uri="{BB962C8B-B14F-4D97-AF65-F5344CB8AC3E}">
        <p14:creationId xmlns:p14="http://schemas.microsoft.com/office/powerpoint/2010/main" val="2793605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7936319" y="73603"/>
            <a:ext cx="4147526" cy="100335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Schema Explanation:</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1" name="Google Shape;111;p4"/>
          <p:cNvSpPr txBox="1">
            <a:spLocks noGrp="1"/>
          </p:cNvSpPr>
          <p:nvPr>
            <p:ph type="body" idx="1"/>
          </p:nvPr>
        </p:nvSpPr>
        <p:spPr>
          <a:xfrm>
            <a:off x="7936318" y="1076960"/>
            <a:ext cx="4042321" cy="5120640"/>
          </a:xfrm>
          <a:prstGeom prst="rect">
            <a:avLst/>
          </a:prstGeom>
          <a:noFill/>
          <a:ln>
            <a:noFill/>
          </a:ln>
        </p:spPr>
        <p:txBody>
          <a:bodyPr spcFirstLastPara="1" wrap="square" lIns="91425" tIns="45700" rIns="91425" bIns="45700" anchor="t" anchorCtr="0">
            <a:noAutofit/>
          </a:bodyPr>
          <a:lstStyle/>
          <a:p>
            <a:r>
              <a:rPr lang="en-US" sz="1750" dirty="0" err="1">
                <a:latin typeface="Times New Roman" panose="02020603050405020304" pitchFamily="18" charset="0"/>
                <a:cs typeface="Times New Roman" panose="02020603050405020304" pitchFamily="18" charset="0"/>
              </a:rPr>
              <a:t>jobdepartment</a:t>
            </a:r>
            <a:r>
              <a:rPr lang="en-US" sz="1750" dirty="0">
                <a:latin typeface="Times New Roman" panose="02020603050405020304" pitchFamily="18" charset="0"/>
                <a:cs typeface="Times New Roman" panose="02020603050405020304" pitchFamily="18" charset="0"/>
              </a:rPr>
              <a:t>: Holds job roles, department, and salary range.</a:t>
            </a:r>
          </a:p>
          <a:p>
            <a:r>
              <a:rPr lang="en-US" sz="1750" dirty="0">
                <a:latin typeface="Times New Roman" panose="02020603050405020304" pitchFamily="18" charset="0"/>
                <a:cs typeface="Times New Roman" panose="02020603050405020304" pitchFamily="18" charset="0"/>
              </a:rPr>
              <a:t>employee: Contains employee personal and job details, linked by </a:t>
            </a:r>
            <a:r>
              <a:rPr lang="en-US" sz="1750" dirty="0" err="1">
                <a:latin typeface="Times New Roman" panose="02020603050405020304" pitchFamily="18" charset="0"/>
                <a:cs typeface="Times New Roman" panose="02020603050405020304" pitchFamily="18" charset="0"/>
              </a:rPr>
              <a:t>Job_ID</a:t>
            </a:r>
            <a:r>
              <a:rPr lang="en-US" sz="1750" dirty="0">
                <a:latin typeface="Times New Roman" panose="02020603050405020304" pitchFamily="18" charset="0"/>
                <a:cs typeface="Times New Roman" panose="02020603050405020304" pitchFamily="18" charset="0"/>
              </a:rPr>
              <a:t>.</a:t>
            </a:r>
          </a:p>
          <a:p>
            <a:r>
              <a:rPr lang="en-US" sz="1750" dirty="0" err="1">
                <a:latin typeface="Times New Roman" panose="02020603050405020304" pitchFamily="18" charset="0"/>
                <a:cs typeface="Times New Roman" panose="02020603050405020304" pitchFamily="18" charset="0"/>
              </a:rPr>
              <a:t>salarybonus</a:t>
            </a:r>
            <a:r>
              <a:rPr lang="en-US" sz="1750" dirty="0">
                <a:latin typeface="Times New Roman" panose="02020603050405020304" pitchFamily="18" charset="0"/>
                <a:cs typeface="Times New Roman" panose="02020603050405020304" pitchFamily="18" charset="0"/>
              </a:rPr>
              <a:t>: Maps salary, bonus, and annual pay to job roles.</a:t>
            </a:r>
          </a:p>
          <a:p>
            <a:r>
              <a:rPr lang="en-US" sz="1750" dirty="0">
                <a:latin typeface="Times New Roman" panose="02020603050405020304" pitchFamily="18" charset="0"/>
                <a:cs typeface="Times New Roman" panose="02020603050405020304" pitchFamily="18" charset="0"/>
              </a:rPr>
              <a:t>qualification: Tracks qualifications per employee for role compliance.</a:t>
            </a:r>
          </a:p>
          <a:p>
            <a:r>
              <a:rPr lang="en-US" sz="1750" dirty="0">
                <a:latin typeface="Times New Roman" panose="02020603050405020304" pitchFamily="18" charset="0"/>
                <a:cs typeface="Times New Roman" panose="02020603050405020304" pitchFamily="18" charset="0"/>
              </a:rPr>
              <a:t>leaves: Records leave history and reasons for each employee.</a:t>
            </a:r>
          </a:p>
          <a:p>
            <a:r>
              <a:rPr lang="en-US" sz="1750" dirty="0">
                <a:latin typeface="Times New Roman" panose="02020603050405020304" pitchFamily="18" charset="0"/>
                <a:cs typeface="Times New Roman" panose="02020603050405020304" pitchFamily="18" charset="0"/>
              </a:rPr>
              <a:t>payroll: Integrates employee, role, salary, and leave data for accurate payroll calculation.</a:t>
            </a:r>
          </a:p>
          <a:p>
            <a:r>
              <a:rPr lang="en-US" sz="1750" dirty="0">
                <a:latin typeface="Times New Roman" panose="02020603050405020304" pitchFamily="18" charset="0"/>
                <a:cs typeface="Times New Roman" panose="02020603050405020304" pitchFamily="18" charset="0"/>
              </a:rPr>
              <a:t>All relationships are enforced with proper foreign keys and relevant cascade/update/delete actions.</a:t>
            </a:r>
          </a:p>
        </p:txBody>
      </p:sp>
      <p:pic>
        <p:nvPicPr>
          <p:cNvPr id="3" name="Picture 2">
            <a:extLst>
              <a:ext uri="{FF2B5EF4-FFF2-40B4-BE49-F238E27FC236}">
                <a16:creationId xmlns:a16="http://schemas.microsoft.com/office/drawing/2014/main" id="{1412BE5C-7400-4030-82A2-D715B120EC4D}"/>
              </a:ext>
            </a:extLst>
          </p:cNvPr>
          <p:cNvPicPr>
            <a:picLocks noChangeAspect="1"/>
          </p:cNvPicPr>
          <p:nvPr/>
        </p:nvPicPr>
        <p:blipFill>
          <a:blip r:embed="rId3"/>
          <a:stretch>
            <a:fillRect/>
          </a:stretch>
        </p:blipFill>
        <p:spPr>
          <a:xfrm>
            <a:off x="0" y="0"/>
            <a:ext cx="7837997" cy="6858000"/>
          </a:xfrm>
          <a:prstGeom prst="rect">
            <a:avLst/>
          </a:prstGeom>
        </p:spPr>
      </p:pic>
    </p:spTree>
    <p:extLst>
      <p:ext uri="{BB962C8B-B14F-4D97-AF65-F5344CB8AC3E}">
        <p14:creationId xmlns:p14="http://schemas.microsoft.com/office/powerpoint/2010/main" val="3906426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Fact Table:</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1" name="Google Shape;111;p4"/>
          <p:cNvSpPr txBox="1">
            <a:spLocks noGrp="1"/>
          </p:cNvSpPr>
          <p:nvPr>
            <p:ph type="body" idx="1"/>
          </p:nvPr>
        </p:nvSpPr>
        <p:spPr>
          <a:xfrm>
            <a:off x="736600" y="481330"/>
            <a:ext cx="10515600" cy="1276350"/>
          </a:xfrm>
          <a:prstGeom prst="rect">
            <a:avLst/>
          </a:prstGeom>
          <a:noFill/>
          <a:ln>
            <a:noFill/>
          </a:ln>
        </p:spPr>
        <p:txBody>
          <a:bodyPr spcFirstLastPara="1" wrap="square" lIns="91425" tIns="45700" rIns="91425" bIns="45700" anchor="t" anchorCtr="0">
            <a:noAutofit/>
          </a:bodyPr>
          <a:lstStyle/>
          <a:p>
            <a:r>
              <a:rPr lang="en-US" sz="1800" b="1" dirty="0">
                <a:latin typeface="Times New Roman" panose="02020603050405020304" pitchFamily="18" charset="0"/>
                <a:cs typeface="Times New Roman" panose="02020603050405020304" pitchFamily="18" charset="0"/>
              </a:rPr>
              <a:t>Payroll</a:t>
            </a:r>
          </a:p>
          <a:p>
            <a:pPr lvl="1"/>
            <a:r>
              <a:rPr lang="en-US" sz="1800" dirty="0">
                <a:latin typeface="Times New Roman" panose="02020603050405020304" pitchFamily="18" charset="0"/>
                <a:cs typeface="Times New Roman" panose="02020603050405020304" pitchFamily="18" charset="0"/>
              </a:rPr>
              <a:t>Why? Each row is a payroll event: it links to Employee, </a:t>
            </a:r>
            <a:r>
              <a:rPr lang="en-US" sz="1800" dirty="0" err="1">
                <a:latin typeface="Times New Roman" panose="02020603050405020304" pitchFamily="18" charset="0"/>
                <a:cs typeface="Times New Roman" panose="02020603050405020304" pitchFamily="18" charset="0"/>
              </a:rPr>
              <a:t>JobDepartment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SalaryBonus</a:t>
            </a:r>
            <a:r>
              <a:rPr lang="en-US" sz="1800" dirty="0">
                <a:latin typeface="Times New Roman" panose="02020603050405020304" pitchFamily="18" charset="0"/>
                <a:cs typeface="Times New Roman" panose="02020603050405020304" pitchFamily="18" charset="0"/>
              </a:rPr>
              <a:t>, Leaves, and quantifies total payment for a specific period.</a:t>
            </a:r>
          </a:p>
          <a:p>
            <a:pPr lvl="1"/>
            <a:r>
              <a:rPr lang="en-US" sz="1800" dirty="0">
                <a:latin typeface="Times New Roman" panose="02020603050405020304" pitchFamily="18" charset="0"/>
                <a:cs typeface="Times New Roman" panose="02020603050405020304" pitchFamily="18" charset="0"/>
              </a:rPr>
              <a:t>Fact column examples: </a:t>
            </a:r>
            <a:r>
              <a:rPr lang="en-US" sz="1800" dirty="0" err="1">
                <a:latin typeface="Times New Roman" panose="02020603050405020304" pitchFamily="18" charset="0"/>
                <a:cs typeface="Times New Roman" panose="02020603050405020304" pitchFamily="18" charset="0"/>
              </a:rPr>
              <a:t>total_amount</a:t>
            </a:r>
            <a:r>
              <a:rPr lang="en-US" sz="1800" dirty="0">
                <a:latin typeface="Times New Roman" panose="02020603050405020304" pitchFamily="18" charset="0"/>
                <a:cs typeface="Times New Roman" panose="02020603050405020304" pitchFamily="18" charset="0"/>
              </a:rPr>
              <a:t>, date (acts as a time dimension), bonuses.</a:t>
            </a:r>
          </a:p>
        </p:txBody>
      </p:sp>
      <p:sp>
        <p:nvSpPr>
          <p:cNvPr id="19" name="Google Shape;110;p4">
            <a:extLst>
              <a:ext uri="{FF2B5EF4-FFF2-40B4-BE49-F238E27FC236}">
                <a16:creationId xmlns:a16="http://schemas.microsoft.com/office/drawing/2014/main" id="{E83559AE-673F-4953-8E90-1F7D1C805347}"/>
              </a:ext>
            </a:extLst>
          </p:cNvPr>
          <p:cNvSpPr txBox="1">
            <a:spLocks/>
          </p:cNvSpPr>
          <p:nvPr/>
        </p:nvSpPr>
        <p:spPr>
          <a:xfrm>
            <a:off x="208472" y="2032002"/>
            <a:ext cx="10515600" cy="31114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2700" b="1" dirty="0">
                <a:solidFill>
                  <a:srgbClr val="FF0000"/>
                </a:solidFill>
                <a:latin typeface="Tahoma" panose="020B0604030504040204" pitchFamily="34" charset="0"/>
                <a:ea typeface="Tahoma" panose="020B0604030504040204" pitchFamily="34" charset="0"/>
                <a:cs typeface="Tahoma" panose="020B0604030504040204" pitchFamily="34" charset="0"/>
              </a:rPr>
              <a:t>Dimension Table:</a:t>
            </a:r>
          </a:p>
        </p:txBody>
      </p:sp>
      <p:sp>
        <p:nvSpPr>
          <p:cNvPr id="20" name="Google Shape;111;p4">
            <a:extLst>
              <a:ext uri="{FF2B5EF4-FFF2-40B4-BE49-F238E27FC236}">
                <a16:creationId xmlns:a16="http://schemas.microsoft.com/office/drawing/2014/main" id="{C4787EB2-D412-4A4D-B939-03036444C133}"/>
              </a:ext>
            </a:extLst>
          </p:cNvPr>
          <p:cNvSpPr txBox="1">
            <a:spLocks/>
          </p:cNvSpPr>
          <p:nvPr/>
        </p:nvSpPr>
        <p:spPr>
          <a:xfrm>
            <a:off x="736600" y="2367281"/>
            <a:ext cx="10515600" cy="40093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sz="1800" b="1" dirty="0">
                <a:latin typeface="Times New Roman" panose="02020603050405020304" pitchFamily="18" charset="0"/>
                <a:cs typeface="Times New Roman" panose="02020603050405020304" pitchFamily="18" charset="0"/>
              </a:rPr>
              <a:t>Employee</a:t>
            </a:r>
          </a:p>
          <a:p>
            <a:pPr lvl="1"/>
            <a:r>
              <a:rPr lang="en-US" sz="1800" dirty="0">
                <a:latin typeface="Times New Roman" panose="02020603050405020304" pitchFamily="18" charset="0"/>
                <a:cs typeface="Times New Roman" panose="02020603050405020304" pitchFamily="18" charset="0"/>
              </a:rPr>
              <a:t>Attributes: </a:t>
            </a:r>
            <a:r>
              <a:rPr lang="en-US" sz="1800" dirty="0" err="1">
                <a:latin typeface="Times New Roman" panose="02020603050405020304" pitchFamily="18" charset="0"/>
                <a:cs typeface="Times New Roman" panose="02020603050405020304" pitchFamily="18" charset="0"/>
              </a:rPr>
              <a:t>emp_ID</a:t>
            </a:r>
            <a:r>
              <a:rPr lang="en-US" sz="1800" dirty="0">
                <a:latin typeface="Times New Roman" panose="02020603050405020304" pitchFamily="18" charset="0"/>
                <a:cs typeface="Times New Roman" panose="02020603050405020304" pitchFamily="18" charset="0"/>
              </a:rPr>
              <a:t>, name, contact, gender, email.</a:t>
            </a:r>
          </a:p>
          <a:p>
            <a:r>
              <a:rPr lang="en-US" sz="1800" b="1" dirty="0" err="1">
                <a:latin typeface="Times New Roman" panose="02020603050405020304" pitchFamily="18" charset="0"/>
                <a:cs typeface="Times New Roman" panose="02020603050405020304" pitchFamily="18" charset="0"/>
              </a:rPr>
              <a:t>JobDepartment</a:t>
            </a:r>
            <a:endParaRPr lang="en-US" sz="1800" b="1"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Attributes: </a:t>
            </a:r>
            <a:r>
              <a:rPr lang="en-US" sz="1800" dirty="0" err="1">
                <a:latin typeface="Times New Roman" panose="02020603050405020304" pitchFamily="18" charset="0"/>
                <a:cs typeface="Times New Roman" panose="02020603050405020304" pitchFamily="18" charset="0"/>
              </a:rPr>
              <a:t>Job_ID</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jobdept</a:t>
            </a:r>
            <a:r>
              <a:rPr lang="en-US" sz="1800" dirty="0">
                <a:latin typeface="Times New Roman" panose="02020603050405020304" pitchFamily="18" charset="0"/>
                <a:cs typeface="Times New Roman" panose="02020603050405020304" pitchFamily="18" charset="0"/>
              </a:rPr>
              <a:t> (department), name (role), description, </a:t>
            </a:r>
            <a:r>
              <a:rPr lang="en-US" sz="1800" dirty="0" err="1">
                <a:latin typeface="Times New Roman" panose="02020603050405020304" pitchFamily="18" charset="0"/>
                <a:cs typeface="Times New Roman" panose="02020603050405020304" pitchFamily="18" charset="0"/>
              </a:rPr>
              <a:t>salaryrange</a:t>
            </a:r>
            <a:r>
              <a:rPr lang="en-US" sz="1800" dirty="0">
                <a:latin typeface="Times New Roman" panose="02020603050405020304" pitchFamily="18" charset="0"/>
                <a:cs typeface="Times New Roman" panose="02020603050405020304" pitchFamily="18" charset="0"/>
              </a:rPr>
              <a:t>.</a:t>
            </a:r>
          </a:p>
          <a:p>
            <a:r>
              <a:rPr lang="en-US" sz="1800" b="1" dirty="0" err="1">
                <a:latin typeface="Times New Roman" panose="02020603050405020304" pitchFamily="18" charset="0"/>
                <a:cs typeface="Times New Roman" panose="02020603050405020304" pitchFamily="18" charset="0"/>
              </a:rPr>
              <a:t>SalaryBonus</a:t>
            </a:r>
            <a:endParaRPr lang="en-US" sz="1800" b="1" dirty="0">
              <a:latin typeface="Times New Roman" panose="02020603050405020304" pitchFamily="18" charset="0"/>
              <a:cs typeface="Times New Roman" panose="02020603050405020304" pitchFamily="18" charset="0"/>
            </a:endParaRPr>
          </a:p>
          <a:p>
            <a:pPr lvl="1"/>
            <a:r>
              <a:rPr lang="en-US" sz="1800" dirty="0">
                <a:latin typeface="Times New Roman" panose="02020603050405020304" pitchFamily="18" charset="0"/>
                <a:cs typeface="Times New Roman" panose="02020603050405020304" pitchFamily="18" charset="0"/>
              </a:rPr>
              <a:t>Attributes: </a:t>
            </a:r>
            <a:r>
              <a:rPr lang="en-US" sz="1800" dirty="0" err="1">
                <a:latin typeface="Times New Roman" panose="02020603050405020304" pitchFamily="18" charset="0"/>
                <a:cs typeface="Times New Roman" panose="02020603050405020304" pitchFamily="18" charset="0"/>
              </a:rPr>
              <a:t>salary_ID</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Job_ID</a:t>
            </a:r>
            <a:r>
              <a:rPr lang="en-US" sz="1800" dirty="0">
                <a:latin typeface="Times New Roman" panose="02020603050405020304" pitchFamily="18" charset="0"/>
                <a:cs typeface="Times New Roman" panose="02020603050405020304" pitchFamily="18" charset="0"/>
              </a:rPr>
              <a:t>, amount, annual, bonus.</a:t>
            </a:r>
          </a:p>
          <a:p>
            <a:r>
              <a:rPr lang="en-US" sz="1800" b="1" dirty="0">
                <a:latin typeface="Times New Roman" panose="02020603050405020304" pitchFamily="18" charset="0"/>
                <a:cs typeface="Times New Roman" panose="02020603050405020304" pitchFamily="18" charset="0"/>
              </a:rPr>
              <a:t>Leaves</a:t>
            </a:r>
          </a:p>
          <a:p>
            <a:pPr lvl="1"/>
            <a:r>
              <a:rPr lang="en-US" sz="1800" dirty="0">
                <a:latin typeface="Times New Roman" panose="02020603050405020304" pitchFamily="18" charset="0"/>
                <a:cs typeface="Times New Roman" panose="02020603050405020304" pitchFamily="18" charset="0"/>
              </a:rPr>
              <a:t>If you analyze leaves as events, they could also be modeled as a fact table. Usually, in BI, you summarize leaves (facts: count/type/duration).</a:t>
            </a:r>
          </a:p>
          <a:p>
            <a:r>
              <a:rPr lang="en-US" sz="1800" b="1" dirty="0">
                <a:latin typeface="Times New Roman" panose="02020603050405020304" pitchFamily="18" charset="0"/>
                <a:cs typeface="Times New Roman" panose="02020603050405020304" pitchFamily="18" charset="0"/>
              </a:rPr>
              <a:t>Qualification</a:t>
            </a:r>
          </a:p>
          <a:p>
            <a:pPr lvl="1"/>
            <a:r>
              <a:rPr lang="en-US" sz="1800" dirty="0">
                <a:latin typeface="Times New Roman" panose="02020603050405020304" pitchFamily="18" charset="0"/>
                <a:cs typeface="Times New Roman" panose="02020603050405020304" pitchFamily="18" charset="0"/>
              </a:rPr>
              <a:t>Often treated as a "bridge" for many-to-many relationships (</a:t>
            </a:r>
            <a:r>
              <a:rPr lang="en-US" sz="1800" dirty="0" err="1">
                <a:latin typeface="Times New Roman" panose="02020603050405020304" pitchFamily="18" charset="0"/>
                <a:cs typeface="Times New Roman" panose="02020603050405020304" pitchFamily="18" charset="0"/>
              </a:rPr>
              <a:t>Employee↔Qualification</a:t>
            </a:r>
            <a:r>
              <a:rPr lang="en-US" sz="1800" dirty="0">
                <a:latin typeface="Times New Roman" panose="02020603050405020304" pitchFamily="18" charset="0"/>
                <a:cs typeface="Times New Roman" panose="02020603050405020304" pitchFamily="18" charset="0"/>
              </a:rPr>
              <a:t>)—could also be considered a dimension or a fact table if analyzing qualification events</a:t>
            </a:r>
          </a:p>
        </p:txBody>
      </p:sp>
    </p:spTree>
    <p:extLst>
      <p:ext uri="{BB962C8B-B14F-4D97-AF65-F5344CB8AC3E}">
        <p14:creationId xmlns:p14="http://schemas.microsoft.com/office/powerpoint/2010/main" val="1025301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Employee Insights: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4" name="Picture 3">
            <a:extLst>
              <a:ext uri="{FF2B5EF4-FFF2-40B4-BE49-F238E27FC236}">
                <a16:creationId xmlns:a16="http://schemas.microsoft.com/office/drawing/2014/main" id="{C54CBCAB-9A40-4D18-86FE-DF59C9EBCA18}"/>
              </a:ext>
            </a:extLst>
          </p:cNvPr>
          <p:cNvPicPr>
            <a:picLocks noChangeAspect="1"/>
          </p:cNvPicPr>
          <p:nvPr/>
        </p:nvPicPr>
        <p:blipFill>
          <a:blip r:embed="rId3"/>
          <a:stretch>
            <a:fillRect/>
          </a:stretch>
        </p:blipFill>
        <p:spPr>
          <a:xfrm>
            <a:off x="208472" y="459354"/>
            <a:ext cx="6658904" cy="981212"/>
          </a:xfrm>
          <a:prstGeom prst="rect">
            <a:avLst/>
          </a:prstGeom>
        </p:spPr>
      </p:pic>
      <p:pic>
        <p:nvPicPr>
          <p:cNvPr id="6" name="Picture 5">
            <a:extLst>
              <a:ext uri="{FF2B5EF4-FFF2-40B4-BE49-F238E27FC236}">
                <a16:creationId xmlns:a16="http://schemas.microsoft.com/office/drawing/2014/main" id="{77F5051D-4EB7-4D4E-B1DE-2019C11D9D7B}"/>
              </a:ext>
            </a:extLst>
          </p:cNvPr>
          <p:cNvPicPr>
            <a:picLocks noChangeAspect="1"/>
          </p:cNvPicPr>
          <p:nvPr/>
        </p:nvPicPr>
        <p:blipFill>
          <a:blip r:embed="rId4"/>
          <a:stretch>
            <a:fillRect/>
          </a:stretch>
        </p:blipFill>
        <p:spPr>
          <a:xfrm>
            <a:off x="208472" y="1440566"/>
            <a:ext cx="3096057" cy="571580"/>
          </a:xfrm>
          <a:prstGeom prst="rect">
            <a:avLst/>
          </a:prstGeom>
        </p:spPr>
      </p:pic>
      <p:sp>
        <p:nvSpPr>
          <p:cNvPr id="7" name="TextBox 6">
            <a:extLst>
              <a:ext uri="{FF2B5EF4-FFF2-40B4-BE49-F238E27FC236}">
                <a16:creationId xmlns:a16="http://schemas.microsoft.com/office/drawing/2014/main" id="{945A91DD-F248-4544-9A69-6E85D92C7873}"/>
              </a:ext>
            </a:extLst>
          </p:cNvPr>
          <p:cNvSpPr txBox="1"/>
          <p:nvPr/>
        </p:nvSpPr>
        <p:spPr>
          <a:xfrm>
            <a:off x="6867376" y="649138"/>
            <a:ext cx="454152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query counts distinct employee IDs from the Employee table ensuring the count of unique employees.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COUNT to count employees if any exist.</a:t>
            </a:r>
          </a:p>
        </p:txBody>
      </p:sp>
      <p:sp>
        <p:nvSpPr>
          <p:cNvPr id="13" name="TextBox 12">
            <a:extLst>
              <a:ext uri="{FF2B5EF4-FFF2-40B4-BE49-F238E27FC236}">
                <a16:creationId xmlns:a16="http://schemas.microsoft.com/office/drawing/2014/main" id="{29C5C2E1-D17D-4C50-9399-CAB265D15D0C}"/>
              </a:ext>
            </a:extLst>
          </p:cNvPr>
          <p:cNvSpPr txBox="1"/>
          <p:nvPr/>
        </p:nvSpPr>
        <p:spPr>
          <a:xfrm>
            <a:off x="6958816" y="3206607"/>
            <a:ext cx="454152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Employee with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on </a:t>
            </a:r>
            <a:r>
              <a:rPr lang="en-US" sz="1600" dirty="0" err="1">
                <a:latin typeface="Times New Roman" panose="02020603050405020304" pitchFamily="18" charset="0"/>
                <a:cs typeface="Times New Roman" panose="02020603050405020304" pitchFamily="18" charset="0"/>
              </a:rPr>
              <a:t>Job_ID</a:t>
            </a:r>
            <a:r>
              <a:rPr lang="en-US" sz="1600" dirty="0">
                <a:latin typeface="Times New Roman" panose="02020603050405020304" pitchFamily="18" charset="0"/>
                <a:cs typeface="Times New Roman" panose="02020603050405020304" pitchFamily="18" charset="0"/>
              </a:rPr>
              <a:t> to relate employees to their departments.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Groups by department and counts employees in each.</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result descending to show highest employee counts first.</a:t>
            </a:r>
          </a:p>
        </p:txBody>
      </p:sp>
      <p:pic>
        <p:nvPicPr>
          <p:cNvPr id="9" name="Picture 8">
            <a:extLst>
              <a:ext uri="{FF2B5EF4-FFF2-40B4-BE49-F238E27FC236}">
                <a16:creationId xmlns:a16="http://schemas.microsoft.com/office/drawing/2014/main" id="{3BC087CB-5422-4FF8-A277-2711817E267E}"/>
              </a:ext>
            </a:extLst>
          </p:cNvPr>
          <p:cNvPicPr>
            <a:picLocks noChangeAspect="1"/>
          </p:cNvPicPr>
          <p:nvPr/>
        </p:nvPicPr>
        <p:blipFill>
          <a:blip r:embed="rId5"/>
          <a:stretch>
            <a:fillRect/>
          </a:stretch>
        </p:blipFill>
        <p:spPr>
          <a:xfrm>
            <a:off x="208608" y="2245868"/>
            <a:ext cx="6658768" cy="1921479"/>
          </a:xfrm>
          <a:prstGeom prst="rect">
            <a:avLst/>
          </a:prstGeom>
        </p:spPr>
      </p:pic>
      <p:pic>
        <p:nvPicPr>
          <p:cNvPr id="11" name="Picture 10">
            <a:extLst>
              <a:ext uri="{FF2B5EF4-FFF2-40B4-BE49-F238E27FC236}">
                <a16:creationId xmlns:a16="http://schemas.microsoft.com/office/drawing/2014/main" id="{2AC20FA0-AD66-449B-8423-38E7E8522FF8}"/>
              </a:ext>
            </a:extLst>
          </p:cNvPr>
          <p:cNvPicPr>
            <a:picLocks noChangeAspect="1"/>
          </p:cNvPicPr>
          <p:nvPr/>
        </p:nvPicPr>
        <p:blipFill>
          <a:blip r:embed="rId6"/>
          <a:stretch>
            <a:fillRect/>
          </a:stretch>
        </p:blipFill>
        <p:spPr>
          <a:xfrm>
            <a:off x="208472" y="4167347"/>
            <a:ext cx="3172268" cy="2000529"/>
          </a:xfrm>
          <a:prstGeom prst="rect">
            <a:avLst/>
          </a:prstGeom>
        </p:spPr>
      </p:pic>
    </p:spTree>
    <p:extLst>
      <p:ext uri="{BB962C8B-B14F-4D97-AF65-F5344CB8AC3E}">
        <p14:creationId xmlns:p14="http://schemas.microsoft.com/office/powerpoint/2010/main" val="157552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Employee Insights: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6" name="TextBox 15">
            <a:extLst>
              <a:ext uri="{FF2B5EF4-FFF2-40B4-BE49-F238E27FC236}">
                <a16:creationId xmlns:a16="http://schemas.microsoft.com/office/drawing/2014/main" id="{9A108018-3E5C-46AB-AF50-F659342EB085}"/>
              </a:ext>
            </a:extLst>
          </p:cNvPr>
          <p:cNvSpPr txBox="1"/>
          <p:nvPr/>
        </p:nvSpPr>
        <p:spPr>
          <a:xfrm>
            <a:off x="208472" y="4473200"/>
            <a:ext cx="454152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 tables to connect </a:t>
            </a:r>
            <a:r>
              <a:rPr lang="en-US" sz="1600" dirty="0" err="1">
                <a:latin typeface="Times New Roman" panose="02020603050405020304" pitchFamily="18" charset="0"/>
                <a:cs typeface="Times New Roman" panose="02020603050405020304" pitchFamily="18" charset="0"/>
              </a:rPr>
              <a:t>jobid</a:t>
            </a:r>
            <a:r>
              <a:rPr lang="en-US" sz="1600" dirty="0">
                <a:latin typeface="Times New Roman" panose="02020603050405020304" pitchFamily="18" charset="0"/>
                <a:cs typeface="Times New Roman" panose="02020603050405020304" pitchFamily="18" charset="0"/>
              </a:rPr>
              <a:t> to salary amounts by job and department.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Calculates average salary in the </a:t>
            </a:r>
            <a:r>
              <a:rPr lang="en-US" sz="1600" dirty="0" err="1">
                <a:latin typeface="Times New Roman" panose="02020603050405020304" pitchFamily="18" charset="0"/>
                <a:cs typeface="Times New Roman" panose="02020603050405020304" pitchFamily="18" charset="0"/>
              </a:rPr>
              <a:t>SalaryBonus.amount</a:t>
            </a:r>
            <a:r>
              <a:rPr lang="en-US" sz="1600" dirty="0">
                <a:latin typeface="Times New Roman" panose="02020603050405020304" pitchFamily="18" charset="0"/>
                <a:cs typeface="Times New Roman" panose="02020603050405020304" pitchFamily="18" charset="0"/>
              </a:rPr>
              <a:t> field grouped by department.</a:t>
            </a:r>
          </a:p>
        </p:txBody>
      </p:sp>
      <p:pic>
        <p:nvPicPr>
          <p:cNvPr id="2" name="Picture 1">
            <a:extLst>
              <a:ext uri="{FF2B5EF4-FFF2-40B4-BE49-F238E27FC236}">
                <a16:creationId xmlns:a16="http://schemas.microsoft.com/office/drawing/2014/main" id="{0DD7D32A-396A-4A4C-9595-97BB21DE2413}"/>
              </a:ext>
            </a:extLst>
          </p:cNvPr>
          <p:cNvPicPr>
            <a:picLocks noChangeAspect="1"/>
          </p:cNvPicPr>
          <p:nvPr/>
        </p:nvPicPr>
        <p:blipFill>
          <a:blip r:embed="rId3"/>
          <a:stretch>
            <a:fillRect/>
          </a:stretch>
        </p:blipFill>
        <p:spPr>
          <a:xfrm>
            <a:off x="208472" y="2229097"/>
            <a:ext cx="4496427" cy="2038635"/>
          </a:xfrm>
          <a:prstGeom prst="rect">
            <a:avLst/>
          </a:prstGeom>
        </p:spPr>
      </p:pic>
      <p:pic>
        <p:nvPicPr>
          <p:cNvPr id="5" name="Picture 4">
            <a:extLst>
              <a:ext uri="{FF2B5EF4-FFF2-40B4-BE49-F238E27FC236}">
                <a16:creationId xmlns:a16="http://schemas.microsoft.com/office/drawing/2014/main" id="{907694CA-2DA8-4F65-BB26-B7187C1E6AD6}"/>
              </a:ext>
            </a:extLst>
          </p:cNvPr>
          <p:cNvPicPr>
            <a:picLocks noChangeAspect="1"/>
          </p:cNvPicPr>
          <p:nvPr/>
        </p:nvPicPr>
        <p:blipFill>
          <a:blip r:embed="rId4"/>
          <a:stretch>
            <a:fillRect/>
          </a:stretch>
        </p:blipFill>
        <p:spPr>
          <a:xfrm>
            <a:off x="208472" y="423206"/>
            <a:ext cx="6096851" cy="1600423"/>
          </a:xfrm>
          <a:prstGeom prst="rect">
            <a:avLst/>
          </a:prstGeom>
        </p:spPr>
      </p:pic>
      <p:pic>
        <p:nvPicPr>
          <p:cNvPr id="8" name="Picture 7">
            <a:extLst>
              <a:ext uri="{FF2B5EF4-FFF2-40B4-BE49-F238E27FC236}">
                <a16:creationId xmlns:a16="http://schemas.microsoft.com/office/drawing/2014/main" id="{39E0B3BA-C1ED-48E6-AE5F-BF91321D79F7}"/>
              </a:ext>
            </a:extLst>
          </p:cNvPr>
          <p:cNvPicPr>
            <a:picLocks noChangeAspect="1"/>
          </p:cNvPicPr>
          <p:nvPr/>
        </p:nvPicPr>
        <p:blipFill>
          <a:blip r:embed="rId5"/>
          <a:stretch>
            <a:fillRect/>
          </a:stretch>
        </p:blipFill>
        <p:spPr>
          <a:xfrm>
            <a:off x="6417083" y="345440"/>
            <a:ext cx="5287113" cy="2152950"/>
          </a:xfrm>
          <a:prstGeom prst="rect">
            <a:avLst/>
          </a:prstGeom>
        </p:spPr>
      </p:pic>
      <p:cxnSp>
        <p:nvCxnSpPr>
          <p:cNvPr id="12" name="Straight Connector 11">
            <a:extLst>
              <a:ext uri="{FF2B5EF4-FFF2-40B4-BE49-F238E27FC236}">
                <a16:creationId xmlns:a16="http://schemas.microsoft.com/office/drawing/2014/main" id="{9DE48DA7-1213-4CB7-BBF3-7435AE533922}"/>
              </a:ext>
            </a:extLst>
          </p:cNvPr>
          <p:cNvCxnSpPr/>
          <p:nvPr/>
        </p:nvCxnSpPr>
        <p:spPr>
          <a:xfrm>
            <a:off x="6305323" y="237727"/>
            <a:ext cx="0" cy="645771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4" name="Picture 13">
            <a:extLst>
              <a:ext uri="{FF2B5EF4-FFF2-40B4-BE49-F238E27FC236}">
                <a16:creationId xmlns:a16="http://schemas.microsoft.com/office/drawing/2014/main" id="{E669EDF2-6F4A-4036-B549-FC705417F818}"/>
              </a:ext>
            </a:extLst>
          </p:cNvPr>
          <p:cNvPicPr>
            <a:picLocks noChangeAspect="1"/>
          </p:cNvPicPr>
          <p:nvPr/>
        </p:nvPicPr>
        <p:blipFill>
          <a:blip r:embed="rId6"/>
          <a:stretch>
            <a:fillRect/>
          </a:stretch>
        </p:blipFill>
        <p:spPr>
          <a:xfrm>
            <a:off x="6423206" y="2581572"/>
            <a:ext cx="2419688" cy="1686160"/>
          </a:xfrm>
          <a:prstGeom prst="rect">
            <a:avLst/>
          </a:prstGeom>
        </p:spPr>
      </p:pic>
      <p:sp>
        <p:nvSpPr>
          <p:cNvPr id="17" name="TextBox 16">
            <a:extLst>
              <a:ext uri="{FF2B5EF4-FFF2-40B4-BE49-F238E27FC236}">
                <a16:creationId xmlns:a16="http://schemas.microsoft.com/office/drawing/2014/main" id="{C5268FEB-C3F8-4128-8AA9-AB985EF0966E}"/>
              </a:ext>
            </a:extLst>
          </p:cNvPr>
          <p:cNvSpPr txBox="1"/>
          <p:nvPr/>
        </p:nvSpPr>
        <p:spPr>
          <a:xfrm>
            <a:off x="6417083" y="4350914"/>
            <a:ext cx="4541520"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to get each employee's salary and department.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by salary descending to get highest payers.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Limits output to the top 5 employees.</a:t>
            </a:r>
          </a:p>
        </p:txBody>
      </p:sp>
    </p:spTree>
    <p:extLst>
      <p:ext uri="{BB962C8B-B14F-4D97-AF65-F5344CB8AC3E}">
        <p14:creationId xmlns:p14="http://schemas.microsoft.com/office/powerpoint/2010/main" val="241613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Employee Insights: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3" name="Picture 2">
            <a:extLst>
              <a:ext uri="{FF2B5EF4-FFF2-40B4-BE49-F238E27FC236}">
                <a16:creationId xmlns:a16="http://schemas.microsoft.com/office/drawing/2014/main" id="{86FC62FE-DD01-4C8E-94B8-653C2662F41E}"/>
              </a:ext>
            </a:extLst>
          </p:cNvPr>
          <p:cNvPicPr>
            <a:picLocks noChangeAspect="1"/>
          </p:cNvPicPr>
          <p:nvPr/>
        </p:nvPicPr>
        <p:blipFill>
          <a:blip r:embed="rId3"/>
          <a:stretch>
            <a:fillRect/>
          </a:stretch>
        </p:blipFill>
        <p:spPr>
          <a:xfrm>
            <a:off x="208472" y="667602"/>
            <a:ext cx="8076016" cy="1719998"/>
          </a:xfrm>
          <a:prstGeom prst="rect">
            <a:avLst/>
          </a:prstGeom>
        </p:spPr>
      </p:pic>
      <p:pic>
        <p:nvPicPr>
          <p:cNvPr id="4" name="Picture 3">
            <a:extLst>
              <a:ext uri="{FF2B5EF4-FFF2-40B4-BE49-F238E27FC236}">
                <a16:creationId xmlns:a16="http://schemas.microsoft.com/office/drawing/2014/main" id="{F5BCDC17-E75C-4F16-9900-FBD4BFD50C96}"/>
              </a:ext>
            </a:extLst>
          </p:cNvPr>
          <p:cNvPicPr>
            <a:picLocks noChangeAspect="1"/>
          </p:cNvPicPr>
          <p:nvPr/>
        </p:nvPicPr>
        <p:blipFill>
          <a:blip r:embed="rId4"/>
          <a:stretch>
            <a:fillRect/>
          </a:stretch>
        </p:blipFill>
        <p:spPr>
          <a:xfrm>
            <a:off x="208472" y="2145586"/>
            <a:ext cx="4515928" cy="1124107"/>
          </a:xfrm>
          <a:prstGeom prst="rect">
            <a:avLst/>
          </a:prstGeom>
        </p:spPr>
      </p:pic>
      <p:sp>
        <p:nvSpPr>
          <p:cNvPr id="6" name="TextBox 5">
            <a:extLst>
              <a:ext uri="{FF2B5EF4-FFF2-40B4-BE49-F238E27FC236}">
                <a16:creationId xmlns:a16="http://schemas.microsoft.com/office/drawing/2014/main" id="{ED7D3834-1E2E-4E98-A08B-8A8177133C23}"/>
              </a:ext>
            </a:extLst>
          </p:cNvPr>
          <p:cNvSpPr txBox="1"/>
          <p:nvPr/>
        </p:nvSpPr>
        <p:spPr>
          <a:xfrm>
            <a:off x="208472" y="3429001"/>
            <a:ext cx="9545128" cy="353943"/>
          </a:xfrm>
          <a:prstGeom prst="rect">
            <a:avLst/>
          </a:prstGeom>
          <a:noFill/>
        </p:spPr>
        <p:txBody>
          <a:bodyPr wrap="square" rtlCol="0">
            <a:spAutoFit/>
          </a:bodyPr>
          <a:lstStyle/>
          <a:p>
            <a:pPr marL="285750" indent="-285750">
              <a:buFont typeface="Arial" panose="020B0604020202020204" pitchFamily="34" charset="0"/>
              <a:buChar char="•"/>
            </a:pPr>
            <a:r>
              <a:rPr lang="en-US" sz="1700" dirty="0">
                <a:latin typeface="Times New Roman" panose="02020603050405020304" pitchFamily="18" charset="0"/>
                <a:cs typeface="Times New Roman" panose="02020603050405020304" pitchFamily="18" charset="0"/>
              </a:rPr>
              <a:t>Calculates </a:t>
            </a:r>
            <a:r>
              <a:rPr lang="en-US" sz="1700" dirty="0" err="1">
                <a:latin typeface="Times New Roman" panose="02020603050405020304" pitchFamily="18" charset="0"/>
                <a:cs typeface="Times New Roman" panose="02020603050405020304" pitchFamily="18" charset="0"/>
              </a:rPr>
              <a:t>SalaryBonus</a:t>
            </a:r>
            <a:r>
              <a:rPr lang="en-US" sz="1700" dirty="0">
                <a:latin typeface="Times New Roman" panose="02020603050405020304" pitchFamily="18" charset="0"/>
                <a:cs typeface="Times New Roman" panose="02020603050405020304" pitchFamily="18" charset="0"/>
              </a:rPr>
              <a:t> to sum all employees' salaries for company-wide total expenditure.</a:t>
            </a:r>
            <a:endParaRPr lang="en-IN"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588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JOB ROLE AND DEPARTMENT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a:extLst>
              <a:ext uri="{FF2B5EF4-FFF2-40B4-BE49-F238E27FC236}">
                <a16:creationId xmlns:a16="http://schemas.microsoft.com/office/drawing/2014/main" id="{8FB44CBB-EBA3-4BE2-9D94-6DF58232012B}"/>
              </a:ext>
            </a:extLst>
          </p:cNvPr>
          <p:cNvPicPr>
            <a:picLocks noChangeAspect="1"/>
          </p:cNvPicPr>
          <p:nvPr/>
        </p:nvPicPr>
        <p:blipFill>
          <a:blip r:embed="rId3"/>
          <a:stretch>
            <a:fillRect/>
          </a:stretch>
        </p:blipFill>
        <p:spPr>
          <a:xfrm>
            <a:off x="78975" y="616496"/>
            <a:ext cx="5734850" cy="1276528"/>
          </a:xfrm>
          <a:prstGeom prst="rect">
            <a:avLst/>
          </a:prstGeom>
        </p:spPr>
      </p:pic>
      <p:pic>
        <p:nvPicPr>
          <p:cNvPr id="5" name="Picture 4">
            <a:extLst>
              <a:ext uri="{FF2B5EF4-FFF2-40B4-BE49-F238E27FC236}">
                <a16:creationId xmlns:a16="http://schemas.microsoft.com/office/drawing/2014/main" id="{A46EBA12-B76A-4CBC-829E-73DF0FBD165A}"/>
              </a:ext>
            </a:extLst>
          </p:cNvPr>
          <p:cNvPicPr>
            <a:picLocks noChangeAspect="1"/>
          </p:cNvPicPr>
          <p:nvPr/>
        </p:nvPicPr>
        <p:blipFill>
          <a:blip r:embed="rId4"/>
          <a:stretch>
            <a:fillRect/>
          </a:stretch>
        </p:blipFill>
        <p:spPr>
          <a:xfrm>
            <a:off x="302052" y="1967406"/>
            <a:ext cx="4198828" cy="2029108"/>
          </a:xfrm>
          <a:prstGeom prst="rect">
            <a:avLst/>
          </a:prstGeom>
        </p:spPr>
      </p:pic>
      <p:sp>
        <p:nvSpPr>
          <p:cNvPr id="7" name="TextBox 6">
            <a:extLst>
              <a:ext uri="{FF2B5EF4-FFF2-40B4-BE49-F238E27FC236}">
                <a16:creationId xmlns:a16="http://schemas.microsoft.com/office/drawing/2014/main" id="{FA3FE346-3126-43A6-83C4-F7E37BEB8F70}"/>
              </a:ext>
            </a:extLst>
          </p:cNvPr>
          <p:cNvSpPr txBox="1"/>
          <p:nvPr/>
        </p:nvSpPr>
        <p:spPr>
          <a:xfrm>
            <a:off x="208472" y="4426368"/>
            <a:ext cx="495808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Uses the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table.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distinct </a:t>
            </a:r>
            <a:r>
              <a:rPr lang="en-US" sz="1600" dirty="0" err="1">
                <a:latin typeface="Times New Roman" panose="02020603050405020304" pitchFamily="18" charset="0"/>
                <a:cs typeface="Times New Roman" panose="02020603050405020304" pitchFamily="18" charset="0"/>
              </a:rPr>
              <a:t>Job_ID</a:t>
            </a:r>
            <a:r>
              <a:rPr lang="en-US" sz="1600" dirty="0">
                <a:latin typeface="Times New Roman" panose="02020603050405020304" pitchFamily="18" charset="0"/>
                <a:cs typeface="Times New Roman" panose="02020603050405020304" pitchFamily="18" charset="0"/>
              </a:rPr>
              <a:t> grouped by departments to find the number of different job roles per department.</a:t>
            </a:r>
          </a:p>
          <a:p>
            <a:pPr marL="285750" indent="-2857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6177280" y="61649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4" name="Picture 13">
            <a:extLst>
              <a:ext uri="{FF2B5EF4-FFF2-40B4-BE49-F238E27FC236}">
                <a16:creationId xmlns:a16="http://schemas.microsoft.com/office/drawing/2014/main" id="{2995DA90-3D31-4617-AA7A-64948BDC9999}"/>
              </a:ext>
            </a:extLst>
          </p:cNvPr>
          <p:cNvPicPr>
            <a:picLocks noChangeAspect="1"/>
          </p:cNvPicPr>
          <p:nvPr/>
        </p:nvPicPr>
        <p:blipFill>
          <a:blip r:embed="rId5"/>
          <a:stretch>
            <a:fillRect/>
          </a:stretch>
        </p:blipFill>
        <p:spPr>
          <a:xfrm>
            <a:off x="6461760" y="2507154"/>
            <a:ext cx="4629796" cy="1658448"/>
          </a:xfrm>
          <a:prstGeom prst="rect">
            <a:avLst/>
          </a:prstGeom>
        </p:spPr>
      </p:pic>
      <p:pic>
        <p:nvPicPr>
          <p:cNvPr id="15" name="Picture 14">
            <a:extLst>
              <a:ext uri="{FF2B5EF4-FFF2-40B4-BE49-F238E27FC236}">
                <a16:creationId xmlns:a16="http://schemas.microsoft.com/office/drawing/2014/main" id="{ED30130C-9C9E-4A94-A66B-69689C0F7165}"/>
              </a:ext>
            </a:extLst>
          </p:cNvPr>
          <p:cNvPicPr>
            <a:picLocks noChangeAspect="1"/>
          </p:cNvPicPr>
          <p:nvPr/>
        </p:nvPicPr>
        <p:blipFill>
          <a:blip r:embed="rId6"/>
          <a:stretch>
            <a:fillRect/>
          </a:stretch>
        </p:blipFill>
        <p:spPr>
          <a:xfrm>
            <a:off x="6258968" y="457200"/>
            <a:ext cx="5933032" cy="1924319"/>
          </a:xfrm>
          <a:prstGeom prst="rect">
            <a:avLst/>
          </a:prstGeom>
        </p:spPr>
      </p:pic>
      <p:sp>
        <p:nvSpPr>
          <p:cNvPr id="17" name="TextBox 16">
            <a:extLst>
              <a:ext uri="{FF2B5EF4-FFF2-40B4-BE49-F238E27FC236}">
                <a16:creationId xmlns:a16="http://schemas.microsoft.com/office/drawing/2014/main" id="{8E17EA50-91C0-4A6D-BAF1-1051BB2F37EA}"/>
              </a:ext>
            </a:extLst>
          </p:cNvPr>
          <p:cNvSpPr txBox="1"/>
          <p:nvPr/>
        </p:nvSpPr>
        <p:spPr>
          <a:xfrm>
            <a:off x="6461760" y="4578768"/>
            <a:ext cx="4958080"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Finds the AVG salary offered for each job dept.</a:t>
            </a:r>
          </a:p>
        </p:txBody>
      </p:sp>
    </p:spTree>
    <p:extLst>
      <p:ext uri="{BB962C8B-B14F-4D97-AF65-F5344CB8AC3E}">
        <p14:creationId xmlns:p14="http://schemas.microsoft.com/office/powerpoint/2010/main" val="2603058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0000"/>
              </a:buClr>
              <a:buSzPts val="4400"/>
              <a:buFont typeface="Calibri"/>
              <a:buNone/>
            </a:pPr>
            <a:r>
              <a:rPr lang="en-US" sz="3000" b="1" dirty="0">
                <a:solidFill>
                  <a:srgbClr val="FF0000"/>
                </a:solidFill>
                <a:latin typeface="Tahoma" panose="020B0604030504040204" pitchFamily="34" charset="0"/>
                <a:ea typeface="Tahoma" panose="020B0604030504040204" pitchFamily="34" charset="0"/>
                <a:cs typeface="Tahoma" panose="020B0604030504040204" pitchFamily="34" charset="0"/>
              </a:rPr>
              <a:t>JOB ROLE AND DEPARTMENT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6177280" y="61649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7" name="TextBox 16">
            <a:extLst>
              <a:ext uri="{FF2B5EF4-FFF2-40B4-BE49-F238E27FC236}">
                <a16:creationId xmlns:a16="http://schemas.microsoft.com/office/drawing/2014/main" id="{8E17EA50-91C0-4A6D-BAF1-1051BB2F37EA}"/>
              </a:ext>
            </a:extLst>
          </p:cNvPr>
          <p:cNvSpPr txBox="1"/>
          <p:nvPr/>
        </p:nvSpPr>
        <p:spPr>
          <a:xfrm>
            <a:off x="6451600" y="4741328"/>
            <a:ext cx="4958080"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Aggregates total salary amounts by department, ordered to show those with highest total allocations.</a:t>
            </a:r>
          </a:p>
        </p:txBody>
      </p:sp>
      <p:pic>
        <p:nvPicPr>
          <p:cNvPr id="6" name="Picture 5">
            <a:extLst>
              <a:ext uri="{FF2B5EF4-FFF2-40B4-BE49-F238E27FC236}">
                <a16:creationId xmlns:a16="http://schemas.microsoft.com/office/drawing/2014/main" id="{622974C3-512F-4AF2-AC18-520D05840113}"/>
              </a:ext>
            </a:extLst>
          </p:cNvPr>
          <p:cNvPicPr>
            <a:picLocks noChangeAspect="1"/>
          </p:cNvPicPr>
          <p:nvPr/>
        </p:nvPicPr>
        <p:blipFill>
          <a:blip r:embed="rId3"/>
          <a:stretch>
            <a:fillRect/>
          </a:stretch>
        </p:blipFill>
        <p:spPr>
          <a:xfrm>
            <a:off x="396227" y="525517"/>
            <a:ext cx="4734586" cy="2152950"/>
          </a:xfrm>
          <a:prstGeom prst="rect">
            <a:avLst/>
          </a:prstGeom>
        </p:spPr>
      </p:pic>
      <p:pic>
        <p:nvPicPr>
          <p:cNvPr id="8" name="Picture 7">
            <a:extLst>
              <a:ext uri="{FF2B5EF4-FFF2-40B4-BE49-F238E27FC236}">
                <a16:creationId xmlns:a16="http://schemas.microsoft.com/office/drawing/2014/main" id="{4BA9D782-960C-4711-9D5A-94BB09FEF795}"/>
              </a:ext>
            </a:extLst>
          </p:cNvPr>
          <p:cNvPicPr>
            <a:picLocks noChangeAspect="1"/>
          </p:cNvPicPr>
          <p:nvPr/>
        </p:nvPicPr>
        <p:blipFill>
          <a:blip r:embed="rId4"/>
          <a:stretch>
            <a:fillRect/>
          </a:stretch>
        </p:blipFill>
        <p:spPr>
          <a:xfrm>
            <a:off x="335268" y="2729457"/>
            <a:ext cx="3858163" cy="1639343"/>
          </a:xfrm>
          <a:prstGeom prst="rect">
            <a:avLst/>
          </a:prstGeom>
        </p:spPr>
      </p:pic>
      <p:sp>
        <p:nvSpPr>
          <p:cNvPr id="9" name="TextBox 8">
            <a:extLst>
              <a:ext uri="{FF2B5EF4-FFF2-40B4-BE49-F238E27FC236}">
                <a16:creationId xmlns:a16="http://schemas.microsoft.com/office/drawing/2014/main" id="{9F2E9A20-7123-4C75-ABBE-906A909A4CDA}"/>
              </a:ext>
            </a:extLst>
          </p:cNvPr>
          <p:cNvSpPr txBox="1"/>
          <p:nvPr/>
        </p:nvSpPr>
        <p:spPr>
          <a:xfrm>
            <a:off x="208472" y="4663440"/>
            <a:ext cx="4815820" cy="1292662"/>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Finds the maximum salary offered for each job role.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descending and limits to top 5 highest paying job roles.</a:t>
            </a:r>
          </a:p>
          <a:p>
            <a:endParaRPr lang="en-IN" dirty="0"/>
          </a:p>
        </p:txBody>
      </p:sp>
      <p:pic>
        <p:nvPicPr>
          <p:cNvPr id="10" name="Picture 9">
            <a:extLst>
              <a:ext uri="{FF2B5EF4-FFF2-40B4-BE49-F238E27FC236}">
                <a16:creationId xmlns:a16="http://schemas.microsoft.com/office/drawing/2014/main" id="{D640FA93-A4BD-4993-9C49-2DBDD5289A93}"/>
              </a:ext>
            </a:extLst>
          </p:cNvPr>
          <p:cNvPicPr>
            <a:picLocks noChangeAspect="1"/>
          </p:cNvPicPr>
          <p:nvPr/>
        </p:nvPicPr>
        <p:blipFill>
          <a:blip r:embed="rId5"/>
          <a:stretch>
            <a:fillRect/>
          </a:stretch>
        </p:blipFill>
        <p:spPr>
          <a:xfrm>
            <a:off x="6364477" y="593664"/>
            <a:ext cx="5725924" cy="1924319"/>
          </a:xfrm>
          <a:prstGeom prst="rect">
            <a:avLst/>
          </a:prstGeom>
        </p:spPr>
      </p:pic>
      <p:pic>
        <p:nvPicPr>
          <p:cNvPr id="11" name="Picture 10">
            <a:extLst>
              <a:ext uri="{FF2B5EF4-FFF2-40B4-BE49-F238E27FC236}">
                <a16:creationId xmlns:a16="http://schemas.microsoft.com/office/drawing/2014/main" id="{CA9FFC8D-3988-4D65-8A03-66E7CB11B91D}"/>
              </a:ext>
            </a:extLst>
          </p:cNvPr>
          <p:cNvPicPr>
            <a:picLocks noChangeAspect="1"/>
          </p:cNvPicPr>
          <p:nvPr/>
        </p:nvPicPr>
        <p:blipFill>
          <a:blip r:embed="rId6"/>
          <a:stretch>
            <a:fillRect/>
          </a:stretch>
        </p:blipFill>
        <p:spPr>
          <a:xfrm>
            <a:off x="6671717" y="2376340"/>
            <a:ext cx="3258005" cy="2105319"/>
          </a:xfrm>
          <a:prstGeom prst="rect">
            <a:avLst/>
          </a:prstGeom>
        </p:spPr>
      </p:pic>
    </p:spTree>
    <p:extLst>
      <p:ext uri="{BB962C8B-B14F-4D97-AF65-F5344CB8AC3E}">
        <p14:creationId xmlns:p14="http://schemas.microsoft.com/office/powerpoint/2010/main" val="2764748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QUALIFICATION AND SKILLS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6177280" y="61649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 name="Picture 1">
            <a:extLst>
              <a:ext uri="{FF2B5EF4-FFF2-40B4-BE49-F238E27FC236}">
                <a16:creationId xmlns:a16="http://schemas.microsoft.com/office/drawing/2014/main" id="{737451A3-28B4-4183-A67E-A4D6171EE177}"/>
              </a:ext>
            </a:extLst>
          </p:cNvPr>
          <p:cNvPicPr>
            <a:picLocks noChangeAspect="1"/>
          </p:cNvPicPr>
          <p:nvPr/>
        </p:nvPicPr>
        <p:blipFill>
          <a:blip r:embed="rId3"/>
          <a:stretch>
            <a:fillRect/>
          </a:stretch>
        </p:blipFill>
        <p:spPr>
          <a:xfrm>
            <a:off x="208472" y="804474"/>
            <a:ext cx="5973009" cy="943107"/>
          </a:xfrm>
          <a:prstGeom prst="rect">
            <a:avLst/>
          </a:prstGeom>
        </p:spPr>
      </p:pic>
      <p:pic>
        <p:nvPicPr>
          <p:cNvPr id="3" name="Picture 2">
            <a:extLst>
              <a:ext uri="{FF2B5EF4-FFF2-40B4-BE49-F238E27FC236}">
                <a16:creationId xmlns:a16="http://schemas.microsoft.com/office/drawing/2014/main" id="{4FA1A78E-F642-4D7A-914A-C22EC409FB54}"/>
              </a:ext>
            </a:extLst>
          </p:cNvPr>
          <p:cNvPicPr>
            <a:picLocks noChangeAspect="1"/>
          </p:cNvPicPr>
          <p:nvPr/>
        </p:nvPicPr>
        <p:blipFill>
          <a:blip r:embed="rId4"/>
          <a:stretch>
            <a:fillRect/>
          </a:stretch>
        </p:blipFill>
        <p:spPr>
          <a:xfrm>
            <a:off x="358598" y="2058694"/>
            <a:ext cx="2836379" cy="1038370"/>
          </a:xfrm>
          <a:prstGeom prst="rect">
            <a:avLst/>
          </a:prstGeom>
        </p:spPr>
      </p:pic>
      <p:sp>
        <p:nvSpPr>
          <p:cNvPr id="4" name="TextBox 3">
            <a:extLst>
              <a:ext uri="{FF2B5EF4-FFF2-40B4-BE49-F238E27FC236}">
                <a16:creationId xmlns:a16="http://schemas.microsoft.com/office/drawing/2014/main" id="{8CEBE0F9-EAD9-470F-9374-2E545E3A19F4}"/>
              </a:ext>
            </a:extLst>
          </p:cNvPr>
          <p:cNvSpPr txBox="1"/>
          <p:nvPr/>
        </p:nvSpPr>
        <p:spPr>
          <a:xfrm>
            <a:off x="343696" y="3719290"/>
            <a:ext cx="402336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unique employees who have entries in the Qualification table, indicating at least one qualification</a:t>
            </a:r>
            <a:br>
              <a:rPr lang="en-US" sz="1600" dirty="0">
                <a:latin typeface="Times New Roman" panose="02020603050405020304" pitchFamily="18" charset="0"/>
                <a:cs typeface="Times New Roman" panose="02020603050405020304" pitchFamily="18" charset="0"/>
              </a:rPr>
            </a:br>
            <a:endParaRPr lang="en-IN" sz="16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4A0138BA-6A0C-48E5-A526-C5CF18414FD1}"/>
              </a:ext>
            </a:extLst>
          </p:cNvPr>
          <p:cNvPicPr>
            <a:picLocks noChangeAspect="1"/>
          </p:cNvPicPr>
          <p:nvPr/>
        </p:nvPicPr>
        <p:blipFill>
          <a:blip r:embed="rId5"/>
          <a:stretch>
            <a:fillRect/>
          </a:stretch>
        </p:blipFill>
        <p:spPr>
          <a:xfrm>
            <a:off x="6439917" y="804474"/>
            <a:ext cx="4820323" cy="1505160"/>
          </a:xfrm>
          <a:prstGeom prst="rect">
            <a:avLst/>
          </a:prstGeom>
        </p:spPr>
      </p:pic>
      <p:pic>
        <p:nvPicPr>
          <p:cNvPr id="15" name="Picture 14">
            <a:extLst>
              <a:ext uri="{FF2B5EF4-FFF2-40B4-BE49-F238E27FC236}">
                <a16:creationId xmlns:a16="http://schemas.microsoft.com/office/drawing/2014/main" id="{23676E2F-8CB3-4460-BAE6-E14DB8777A76}"/>
              </a:ext>
            </a:extLst>
          </p:cNvPr>
          <p:cNvPicPr>
            <a:picLocks noChangeAspect="1"/>
          </p:cNvPicPr>
          <p:nvPr/>
        </p:nvPicPr>
        <p:blipFill>
          <a:blip r:embed="rId6"/>
          <a:stretch>
            <a:fillRect/>
          </a:stretch>
        </p:blipFill>
        <p:spPr>
          <a:xfrm>
            <a:off x="6551065" y="2406259"/>
            <a:ext cx="3296110" cy="1313032"/>
          </a:xfrm>
          <a:prstGeom prst="rect">
            <a:avLst/>
          </a:prstGeom>
        </p:spPr>
      </p:pic>
      <p:sp>
        <p:nvSpPr>
          <p:cNvPr id="16" name="TextBox 15">
            <a:extLst>
              <a:ext uri="{FF2B5EF4-FFF2-40B4-BE49-F238E27FC236}">
                <a16:creationId xmlns:a16="http://schemas.microsoft.com/office/drawing/2014/main" id="{474A4FB3-DDA1-475A-9ACF-84B0871EA60A}"/>
              </a:ext>
            </a:extLst>
          </p:cNvPr>
          <p:cNvSpPr txBox="1"/>
          <p:nvPr/>
        </p:nvSpPr>
        <p:spPr>
          <a:xfrm>
            <a:off x="6439917" y="4287520"/>
            <a:ext cx="4441436"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Groups the Qualification table by Position.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the number of qualification records for each position.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descending to show positions requiring the most qualifications.</a:t>
            </a:r>
          </a:p>
        </p:txBody>
      </p:sp>
    </p:spTree>
    <p:extLst>
      <p:ext uri="{BB962C8B-B14F-4D97-AF65-F5344CB8AC3E}">
        <p14:creationId xmlns:p14="http://schemas.microsoft.com/office/powerpoint/2010/main" val="646449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QUALIFICATION AND SKILLS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pic>
        <p:nvPicPr>
          <p:cNvPr id="2" name="Picture 1">
            <a:extLst>
              <a:ext uri="{FF2B5EF4-FFF2-40B4-BE49-F238E27FC236}">
                <a16:creationId xmlns:a16="http://schemas.microsoft.com/office/drawing/2014/main" id="{45611D72-DDF2-4668-ACCC-06F1299A970D}"/>
              </a:ext>
            </a:extLst>
          </p:cNvPr>
          <p:cNvPicPr>
            <a:picLocks noChangeAspect="1"/>
          </p:cNvPicPr>
          <p:nvPr/>
        </p:nvPicPr>
        <p:blipFill>
          <a:blip r:embed="rId3"/>
          <a:stretch>
            <a:fillRect/>
          </a:stretch>
        </p:blipFill>
        <p:spPr>
          <a:xfrm>
            <a:off x="194134" y="484418"/>
            <a:ext cx="7690026" cy="2512781"/>
          </a:xfrm>
          <a:prstGeom prst="rect">
            <a:avLst/>
          </a:prstGeom>
        </p:spPr>
      </p:pic>
      <p:pic>
        <p:nvPicPr>
          <p:cNvPr id="3" name="Picture 2">
            <a:extLst>
              <a:ext uri="{FF2B5EF4-FFF2-40B4-BE49-F238E27FC236}">
                <a16:creationId xmlns:a16="http://schemas.microsoft.com/office/drawing/2014/main" id="{58A07202-70E4-4ADA-BC25-C4A2A315236A}"/>
              </a:ext>
            </a:extLst>
          </p:cNvPr>
          <p:cNvPicPr>
            <a:picLocks noChangeAspect="1"/>
          </p:cNvPicPr>
          <p:nvPr/>
        </p:nvPicPr>
        <p:blipFill>
          <a:blip r:embed="rId4"/>
          <a:stretch>
            <a:fillRect/>
          </a:stretch>
        </p:blipFill>
        <p:spPr>
          <a:xfrm>
            <a:off x="208472" y="3034728"/>
            <a:ext cx="3038899" cy="2133898"/>
          </a:xfrm>
          <a:prstGeom prst="rect">
            <a:avLst/>
          </a:prstGeom>
        </p:spPr>
      </p:pic>
      <p:sp>
        <p:nvSpPr>
          <p:cNvPr id="13" name="TextBox 12">
            <a:extLst>
              <a:ext uri="{FF2B5EF4-FFF2-40B4-BE49-F238E27FC236}">
                <a16:creationId xmlns:a16="http://schemas.microsoft.com/office/drawing/2014/main" id="{C8B52C29-CEEC-4432-A5FF-DA7B1E1238D1}"/>
              </a:ext>
            </a:extLst>
          </p:cNvPr>
          <p:cNvSpPr txBox="1"/>
          <p:nvPr/>
        </p:nvSpPr>
        <p:spPr>
          <a:xfrm>
            <a:off x="5476250" y="2249898"/>
            <a:ext cx="5247822"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Joins Qualification records by employee.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Counts qualifications per employee.</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Orders by count descending to find employees with most qualifications.</a:t>
            </a: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2721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LEAVE AND ABSENCE PATTERNS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5852160" y="58601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8CEBE0F9-EAD9-470F-9374-2E545E3A19F4}"/>
              </a:ext>
            </a:extLst>
          </p:cNvPr>
          <p:cNvSpPr txBox="1"/>
          <p:nvPr/>
        </p:nvSpPr>
        <p:spPr>
          <a:xfrm>
            <a:off x="343696" y="3719290"/>
            <a:ext cx="4023360"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Extracts year from leave date.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distinct employees who took leave per year.</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descending to find the year with most employees taking leaves.</a:t>
            </a:r>
          </a:p>
        </p:txBody>
      </p:sp>
      <p:sp>
        <p:nvSpPr>
          <p:cNvPr id="16" name="TextBox 15">
            <a:extLst>
              <a:ext uri="{FF2B5EF4-FFF2-40B4-BE49-F238E27FC236}">
                <a16:creationId xmlns:a16="http://schemas.microsoft.com/office/drawing/2014/main" id="{474A4FB3-DDA1-475A-9ACF-84B0871EA60A}"/>
              </a:ext>
            </a:extLst>
          </p:cNvPr>
          <p:cNvSpPr txBox="1"/>
          <p:nvPr/>
        </p:nvSpPr>
        <p:spPr>
          <a:xfrm>
            <a:off x="6096000" y="4628802"/>
            <a:ext cx="4441436"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leave days per employee.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with Employee and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Leaves to relate leaves to departments.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Calculates average leave days per department.</a:t>
            </a:r>
          </a:p>
        </p:txBody>
      </p:sp>
      <p:pic>
        <p:nvPicPr>
          <p:cNvPr id="6" name="Picture 5">
            <a:extLst>
              <a:ext uri="{FF2B5EF4-FFF2-40B4-BE49-F238E27FC236}">
                <a16:creationId xmlns:a16="http://schemas.microsoft.com/office/drawing/2014/main" id="{740B3930-9DA3-4CDC-813E-F91D46A11AD0}"/>
              </a:ext>
            </a:extLst>
          </p:cNvPr>
          <p:cNvPicPr>
            <a:picLocks noChangeAspect="1"/>
          </p:cNvPicPr>
          <p:nvPr/>
        </p:nvPicPr>
        <p:blipFill>
          <a:blip r:embed="rId3"/>
          <a:stretch>
            <a:fillRect/>
          </a:stretch>
        </p:blipFill>
        <p:spPr>
          <a:xfrm>
            <a:off x="343696" y="2145299"/>
            <a:ext cx="2619741" cy="1457528"/>
          </a:xfrm>
          <a:prstGeom prst="rect">
            <a:avLst/>
          </a:prstGeom>
        </p:spPr>
      </p:pic>
      <p:pic>
        <p:nvPicPr>
          <p:cNvPr id="7" name="Picture 6">
            <a:extLst>
              <a:ext uri="{FF2B5EF4-FFF2-40B4-BE49-F238E27FC236}">
                <a16:creationId xmlns:a16="http://schemas.microsoft.com/office/drawing/2014/main" id="{77F0DF95-1DFA-4E65-A8FB-366131362E11}"/>
              </a:ext>
            </a:extLst>
          </p:cNvPr>
          <p:cNvPicPr>
            <a:picLocks noChangeAspect="1"/>
          </p:cNvPicPr>
          <p:nvPr/>
        </p:nvPicPr>
        <p:blipFill>
          <a:blip r:embed="rId4"/>
          <a:stretch>
            <a:fillRect/>
          </a:stretch>
        </p:blipFill>
        <p:spPr>
          <a:xfrm>
            <a:off x="208472" y="399835"/>
            <a:ext cx="4991797" cy="1629002"/>
          </a:xfrm>
          <a:prstGeom prst="rect">
            <a:avLst/>
          </a:prstGeom>
        </p:spPr>
      </p:pic>
      <p:pic>
        <p:nvPicPr>
          <p:cNvPr id="8" name="Picture 7">
            <a:extLst>
              <a:ext uri="{FF2B5EF4-FFF2-40B4-BE49-F238E27FC236}">
                <a16:creationId xmlns:a16="http://schemas.microsoft.com/office/drawing/2014/main" id="{7B79A556-163C-4F2B-8E2E-D7E20ECCEC9E}"/>
              </a:ext>
            </a:extLst>
          </p:cNvPr>
          <p:cNvPicPr>
            <a:picLocks noChangeAspect="1"/>
          </p:cNvPicPr>
          <p:nvPr/>
        </p:nvPicPr>
        <p:blipFill>
          <a:blip r:embed="rId5"/>
          <a:stretch>
            <a:fillRect/>
          </a:stretch>
        </p:blipFill>
        <p:spPr>
          <a:xfrm>
            <a:off x="5953760" y="457200"/>
            <a:ext cx="6238240" cy="2105319"/>
          </a:xfrm>
          <a:prstGeom prst="rect">
            <a:avLst/>
          </a:prstGeom>
        </p:spPr>
      </p:pic>
      <p:pic>
        <p:nvPicPr>
          <p:cNvPr id="9" name="Picture 8">
            <a:extLst>
              <a:ext uri="{FF2B5EF4-FFF2-40B4-BE49-F238E27FC236}">
                <a16:creationId xmlns:a16="http://schemas.microsoft.com/office/drawing/2014/main" id="{231C37C1-4D8E-4C5D-99F5-A484C55609EE}"/>
              </a:ext>
            </a:extLst>
          </p:cNvPr>
          <p:cNvPicPr>
            <a:picLocks noChangeAspect="1"/>
          </p:cNvPicPr>
          <p:nvPr/>
        </p:nvPicPr>
        <p:blipFill>
          <a:blip r:embed="rId6"/>
          <a:stretch>
            <a:fillRect/>
          </a:stretch>
        </p:blipFill>
        <p:spPr>
          <a:xfrm>
            <a:off x="5953760" y="2562519"/>
            <a:ext cx="2915057" cy="2048161"/>
          </a:xfrm>
          <a:prstGeom prst="rect">
            <a:avLst/>
          </a:prstGeom>
        </p:spPr>
      </p:pic>
    </p:spTree>
    <p:extLst>
      <p:ext uri="{BB962C8B-B14F-4D97-AF65-F5344CB8AC3E}">
        <p14:creationId xmlns:p14="http://schemas.microsoft.com/office/powerpoint/2010/main" val="4161965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LEAVE AND ABSENCE PATTERNS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6177280" y="61649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8CEBE0F9-EAD9-470F-9374-2E545E3A19F4}"/>
              </a:ext>
            </a:extLst>
          </p:cNvPr>
          <p:cNvSpPr txBox="1"/>
          <p:nvPr/>
        </p:nvSpPr>
        <p:spPr>
          <a:xfrm>
            <a:off x="273559" y="4949239"/>
            <a:ext cx="4023360" cy="1323439"/>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Leaves and Employee tables.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leaves per employee and orders descending.</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Limits to top 5 employees who took most leaves.</a:t>
            </a:r>
          </a:p>
        </p:txBody>
      </p:sp>
      <p:sp>
        <p:nvSpPr>
          <p:cNvPr id="16" name="TextBox 15">
            <a:extLst>
              <a:ext uri="{FF2B5EF4-FFF2-40B4-BE49-F238E27FC236}">
                <a16:creationId xmlns:a16="http://schemas.microsoft.com/office/drawing/2014/main" id="{474A4FB3-DDA1-475A-9ACF-84B0871EA60A}"/>
              </a:ext>
            </a:extLst>
          </p:cNvPr>
          <p:cNvSpPr txBox="1"/>
          <p:nvPr/>
        </p:nvSpPr>
        <p:spPr>
          <a:xfrm>
            <a:off x="6439917" y="4287520"/>
            <a:ext cx="4441436"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Simple count of all leave records to get total leave days in the company.</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362DE92-25DC-4D20-AF45-47F96E98B6EA}"/>
              </a:ext>
            </a:extLst>
          </p:cNvPr>
          <p:cNvPicPr>
            <a:picLocks noChangeAspect="1"/>
          </p:cNvPicPr>
          <p:nvPr/>
        </p:nvPicPr>
        <p:blipFill>
          <a:blip r:embed="rId3"/>
          <a:stretch>
            <a:fillRect/>
          </a:stretch>
        </p:blipFill>
        <p:spPr>
          <a:xfrm>
            <a:off x="105219" y="541182"/>
            <a:ext cx="5909497" cy="2219635"/>
          </a:xfrm>
          <a:prstGeom prst="rect">
            <a:avLst/>
          </a:prstGeom>
        </p:spPr>
      </p:pic>
      <p:pic>
        <p:nvPicPr>
          <p:cNvPr id="6" name="Picture 5">
            <a:extLst>
              <a:ext uri="{FF2B5EF4-FFF2-40B4-BE49-F238E27FC236}">
                <a16:creationId xmlns:a16="http://schemas.microsoft.com/office/drawing/2014/main" id="{1477BD6B-D063-4FCF-9A6A-5A5E763190EC}"/>
              </a:ext>
            </a:extLst>
          </p:cNvPr>
          <p:cNvPicPr>
            <a:picLocks noChangeAspect="1"/>
          </p:cNvPicPr>
          <p:nvPr/>
        </p:nvPicPr>
        <p:blipFill>
          <a:blip r:embed="rId4"/>
          <a:stretch>
            <a:fillRect/>
          </a:stretch>
        </p:blipFill>
        <p:spPr>
          <a:xfrm>
            <a:off x="0" y="2628439"/>
            <a:ext cx="2800741" cy="2048161"/>
          </a:xfrm>
          <a:prstGeom prst="rect">
            <a:avLst/>
          </a:prstGeom>
        </p:spPr>
      </p:pic>
      <p:pic>
        <p:nvPicPr>
          <p:cNvPr id="8" name="Picture 7">
            <a:extLst>
              <a:ext uri="{FF2B5EF4-FFF2-40B4-BE49-F238E27FC236}">
                <a16:creationId xmlns:a16="http://schemas.microsoft.com/office/drawing/2014/main" id="{4642D229-49DD-43FE-9AD1-55E7597C93AF}"/>
              </a:ext>
            </a:extLst>
          </p:cNvPr>
          <p:cNvPicPr>
            <a:picLocks noChangeAspect="1"/>
          </p:cNvPicPr>
          <p:nvPr/>
        </p:nvPicPr>
        <p:blipFill>
          <a:blip r:embed="rId5"/>
          <a:stretch>
            <a:fillRect/>
          </a:stretch>
        </p:blipFill>
        <p:spPr>
          <a:xfrm>
            <a:off x="6339845" y="616496"/>
            <a:ext cx="5649113" cy="933580"/>
          </a:xfrm>
          <a:prstGeom prst="rect">
            <a:avLst/>
          </a:prstGeom>
        </p:spPr>
      </p:pic>
      <p:pic>
        <p:nvPicPr>
          <p:cNvPr id="9" name="Picture 8">
            <a:extLst>
              <a:ext uri="{FF2B5EF4-FFF2-40B4-BE49-F238E27FC236}">
                <a16:creationId xmlns:a16="http://schemas.microsoft.com/office/drawing/2014/main" id="{100DA3FE-9622-4F2C-912D-AC126470F8AA}"/>
              </a:ext>
            </a:extLst>
          </p:cNvPr>
          <p:cNvPicPr>
            <a:picLocks noChangeAspect="1"/>
          </p:cNvPicPr>
          <p:nvPr/>
        </p:nvPicPr>
        <p:blipFill>
          <a:blip r:embed="rId6"/>
          <a:stretch>
            <a:fillRect/>
          </a:stretch>
        </p:blipFill>
        <p:spPr>
          <a:xfrm>
            <a:off x="6726790" y="1951268"/>
            <a:ext cx="1933845" cy="1238423"/>
          </a:xfrm>
          <a:prstGeom prst="rect">
            <a:avLst/>
          </a:prstGeom>
        </p:spPr>
      </p:pic>
    </p:spTree>
    <p:extLst>
      <p:ext uri="{BB962C8B-B14F-4D97-AF65-F5344CB8AC3E}">
        <p14:creationId xmlns:p14="http://schemas.microsoft.com/office/powerpoint/2010/main" val="1599585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LEAVE AND ABSENCE PATTERNS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8CEBE0F9-EAD9-470F-9374-2E545E3A19F4}"/>
              </a:ext>
            </a:extLst>
          </p:cNvPr>
          <p:cNvSpPr txBox="1"/>
          <p:nvPr/>
        </p:nvSpPr>
        <p:spPr>
          <a:xfrm>
            <a:off x="6419376" y="3272036"/>
            <a:ext cx="402336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leave records with payroll by employee.</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Counts leave days and associates total payroll amounts.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Can be used to analyze correlation between leaves and pay.</a:t>
            </a:r>
          </a:p>
        </p:txBody>
      </p:sp>
      <p:pic>
        <p:nvPicPr>
          <p:cNvPr id="5" name="Picture 4">
            <a:extLst>
              <a:ext uri="{FF2B5EF4-FFF2-40B4-BE49-F238E27FC236}">
                <a16:creationId xmlns:a16="http://schemas.microsoft.com/office/drawing/2014/main" id="{E93960E8-3A04-4EF9-8DC5-D8C5C45FB941}"/>
              </a:ext>
            </a:extLst>
          </p:cNvPr>
          <p:cNvPicPr>
            <a:picLocks noChangeAspect="1"/>
          </p:cNvPicPr>
          <p:nvPr/>
        </p:nvPicPr>
        <p:blipFill>
          <a:blip r:embed="rId3"/>
          <a:stretch>
            <a:fillRect/>
          </a:stretch>
        </p:blipFill>
        <p:spPr>
          <a:xfrm>
            <a:off x="1085733" y="645339"/>
            <a:ext cx="8352907" cy="1914982"/>
          </a:xfrm>
          <a:prstGeom prst="rect">
            <a:avLst/>
          </a:prstGeom>
        </p:spPr>
      </p:pic>
      <p:pic>
        <p:nvPicPr>
          <p:cNvPr id="6" name="Picture 5">
            <a:extLst>
              <a:ext uri="{FF2B5EF4-FFF2-40B4-BE49-F238E27FC236}">
                <a16:creationId xmlns:a16="http://schemas.microsoft.com/office/drawing/2014/main" id="{4A4D3954-9A28-4E04-91ED-CD90515BC941}"/>
              </a:ext>
            </a:extLst>
          </p:cNvPr>
          <p:cNvPicPr>
            <a:picLocks noChangeAspect="1"/>
          </p:cNvPicPr>
          <p:nvPr/>
        </p:nvPicPr>
        <p:blipFill>
          <a:blip r:embed="rId4"/>
          <a:stretch>
            <a:fillRect/>
          </a:stretch>
        </p:blipFill>
        <p:spPr>
          <a:xfrm>
            <a:off x="1085733" y="2961820"/>
            <a:ext cx="3181794" cy="2124371"/>
          </a:xfrm>
          <a:prstGeom prst="rect">
            <a:avLst/>
          </a:prstGeom>
        </p:spPr>
      </p:pic>
    </p:spTree>
    <p:extLst>
      <p:ext uri="{BB962C8B-B14F-4D97-AF65-F5344CB8AC3E}">
        <p14:creationId xmlns:p14="http://schemas.microsoft.com/office/powerpoint/2010/main" val="3624082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PAYROLL AND COMPENSATION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4" name="TextBox 3">
            <a:extLst>
              <a:ext uri="{FF2B5EF4-FFF2-40B4-BE49-F238E27FC236}">
                <a16:creationId xmlns:a16="http://schemas.microsoft.com/office/drawing/2014/main" id="{8CEBE0F9-EAD9-470F-9374-2E545E3A19F4}"/>
              </a:ext>
            </a:extLst>
          </p:cNvPr>
          <p:cNvSpPr txBox="1"/>
          <p:nvPr/>
        </p:nvSpPr>
        <p:spPr>
          <a:xfrm>
            <a:off x="6439917" y="708432"/>
            <a:ext cx="402336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Groups payroll records by month (YYYY-MM format).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Sums total payment amounts processed in each month.</a:t>
            </a:r>
          </a:p>
        </p:txBody>
      </p:sp>
      <p:sp>
        <p:nvSpPr>
          <p:cNvPr id="16" name="TextBox 15">
            <a:extLst>
              <a:ext uri="{FF2B5EF4-FFF2-40B4-BE49-F238E27FC236}">
                <a16:creationId xmlns:a16="http://schemas.microsoft.com/office/drawing/2014/main" id="{474A4FB3-DDA1-475A-9ACF-84B0871EA60A}"/>
              </a:ext>
            </a:extLst>
          </p:cNvPr>
          <p:cNvSpPr txBox="1"/>
          <p:nvPr/>
        </p:nvSpPr>
        <p:spPr>
          <a:xfrm>
            <a:off x="6439917" y="4287520"/>
            <a:ext cx="4441436" cy="584775"/>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Calculates average bonus by department.</a:t>
            </a:r>
          </a:p>
        </p:txBody>
      </p:sp>
      <p:pic>
        <p:nvPicPr>
          <p:cNvPr id="5" name="Picture 4">
            <a:extLst>
              <a:ext uri="{FF2B5EF4-FFF2-40B4-BE49-F238E27FC236}">
                <a16:creationId xmlns:a16="http://schemas.microsoft.com/office/drawing/2014/main" id="{26F2E410-BC35-4190-BA12-C2B36EE2C4FF}"/>
              </a:ext>
            </a:extLst>
          </p:cNvPr>
          <p:cNvPicPr>
            <a:picLocks noChangeAspect="1"/>
          </p:cNvPicPr>
          <p:nvPr/>
        </p:nvPicPr>
        <p:blipFill>
          <a:blip r:embed="rId3"/>
          <a:stretch>
            <a:fillRect/>
          </a:stretch>
        </p:blipFill>
        <p:spPr>
          <a:xfrm>
            <a:off x="431992" y="457200"/>
            <a:ext cx="4696480" cy="1409897"/>
          </a:xfrm>
          <a:prstGeom prst="rect">
            <a:avLst/>
          </a:prstGeom>
        </p:spPr>
      </p:pic>
      <p:pic>
        <p:nvPicPr>
          <p:cNvPr id="6" name="Picture 5">
            <a:extLst>
              <a:ext uri="{FF2B5EF4-FFF2-40B4-BE49-F238E27FC236}">
                <a16:creationId xmlns:a16="http://schemas.microsoft.com/office/drawing/2014/main" id="{B086C590-C658-40AB-9A18-2F371080DC24}"/>
              </a:ext>
            </a:extLst>
          </p:cNvPr>
          <p:cNvPicPr>
            <a:picLocks noChangeAspect="1"/>
          </p:cNvPicPr>
          <p:nvPr/>
        </p:nvPicPr>
        <p:blipFill>
          <a:blip r:embed="rId4"/>
          <a:stretch>
            <a:fillRect/>
          </a:stretch>
        </p:blipFill>
        <p:spPr>
          <a:xfrm>
            <a:off x="431992" y="1867097"/>
            <a:ext cx="2991267" cy="685896"/>
          </a:xfrm>
          <a:prstGeom prst="rect">
            <a:avLst/>
          </a:prstGeom>
        </p:spPr>
      </p:pic>
      <p:pic>
        <p:nvPicPr>
          <p:cNvPr id="7" name="Picture 6">
            <a:extLst>
              <a:ext uri="{FF2B5EF4-FFF2-40B4-BE49-F238E27FC236}">
                <a16:creationId xmlns:a16="http://schemas.microsoft.com/office/drawing/2014/main" id="{8A06A335-5402-4430-9138-D6386A8D091E}"/>
              </a:ext>
            </a:extLst>
          </p:cNvPr>
          <p:cNvPicPr>
            <a:picLocks noChangeAspect="1"/>
          </p:cNvPicPr>
          <p:nvPr/>
        </p:nvPicPr>
        <p:blipFill>
          <a:blip r:embed="rId5"/>
          <a:stretch>
            <a:fillRect/>
          </a:stretch>
        </p:blipFill>
        <p:spPr>
          <a:xfrm>
            <a:off x="431992" y="2663376"/>
            <a:ext cx="5029902" cy="1876687"/>
          </a:xfrm>
          <a:prstGeom prst="rect">
            <a:avLst/>
          </a:prstGeom>
        </p:spPr>
      </p:pic>
      <p:pic>
        <p:nvPicPr>
          <p:cNvPr id="8" name="Picture 7">
            <a:extLst>
              <a:ext uri="{FF2B5EF4-FFF2-40B4-BE49-F238E27FC236}">
                <a16:creationId xmlns:a16="http://schemas.microsoft.com/office/drawing/2014/main" id="{2EF553AB-3C16-4F42-A7D9-B2E84F11C10F}"/>
              </a:ext>
            </a:extLst>
          </p:cNvPr>
          <p:cNvPicPr>
            <a:picLocks noChangeAspect="1"/>
          </p:cNvPicPr>
          <p:nvPr/>
        </p:nvPicPr>
        <p:blipFill>
          <a:blip r:embed="rId6"/>
          <a:stretch>
            <a:fillRect/>
          </a:stretch>
        </p:blipFill>
        <p:spPr>
          <a:xfrm>
            <a:off x="431992" y="4540063"/>
            <a:ext cx="2581635" cy="2048161"/>
          </a:xfrm>
          <a:prstGeom prst="rect">
            <a:avLst/>
          </a:prstGeom>
        </p:spPr>
      </p:pic>
    </p:spTree>
    <p:extLst>
      <p:ext uri="{BB962C8B-B14F-4D97-AF65-F5344CB8AC3E}">
        <p14:creationId xmlns:p14="http://schemas.microsoft.com/office/powerpoint/2010/main" val="1545119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438945"/>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IN" sz="3000" b="1" dirty="0">
                <a:solidFill>
                  <a:srgbClr val="FF0000"/>
                </a:solidFill>
                <a:latin typeface="Tahoma" panose="020B0604030504040204" pitchFamily="34" charset="0"/>
                <a:ea typeface="Tahoma" panose="020B0604030504040204" pitchFamily="34" charset="0"/>
                <a:cs typeface="Tahoma" panose="020B0604030504040204" pitchFamily="34" charset="0"/>
              </a:rPr>
              <a:t>PAYROLL AND COMPENSATION ANALYSIS</a:t>
            </a:r>
            <a:endParaRPr sz="30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cxnSp>
        <p:nvCxnSpPr>
          <p:cNvPr id="12" name="Straight Connector 11">
            <a:extLst>
              <a:ext uri="{FF2B5EF4-FFF2-40B4-BE49-F238E27FC236}">
                <a16:creationId xmlns:a16="http://schemas.microsoft.com/office/drawing/2014/main" id="{BB9A9D19-7797-43A9-90BB-B302BECB87F1}"/>
              </a:ext>
            </a:extLst>
          </p:cNvPr>
          <p:cNvCxnSpPr/>
          <p:nvPr/>
        </p:nvCxnSpPr>
        <p:spPr>
          <a:xfrm>
            <a:off x="5821680" y="636816"/>
            <a:ext cx="0" cy="516454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6" name="TextBox 15">
            <a:extLst>
              <a:ext uri="{FF2B5EF4-FFF2-40B4-BE49-F238E27FC236}">
                <a16:creationId xmlns:a16="http://schemas.microsoft.com/office/drawing/2014/main" id="{474A4FB3-DDA1-475A-9ACF-84B0871EA60A}"/>
              </a:ext>
            </a:extLst>
          </p:cNvPr>
          <p:cNvSpPr txBox="1"/>
          <p:nvPr/>
        </p:nvSpPr>
        <p:spPr>
          <a:xfrm>
            <a:off x="5991995" y="4826128"/>
            <a:ext cx="4441436"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Calculates average total payroll amount after deductions reflected in </a:t>
            </a:r>
            <a:r>
              <a:rPr lang="en-US" sz="1600" dirty="0" err="1">
                <a:latin typeface="Times New Roman" panose="02020603050405020304" pitchFamily="18" charset="0"/>
                <a:cs typeface="Times New Roman" panose="02020603050405020304" pitchFamily="18" charset="0"/>
              </a:rPr>
              <a:t>total_amount</a:t>
            </a:r>
            <a:r>
              <a:rPr lang="en-US" sz="1600" dirty="0">
                <a:latin typeface="Times New Roman" panose="02020603050405020304" pitchFamily="18" charset="0"/>
                <a:cs typeface="Times New Roman" panose="02020603050405020304" pitchFamily="18" charset="0"/>
              </a:rPr>
              <a:t> field.</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Leaves deductions have been applied in </a:t>
            </a:r>
            <a:r>
              <a:rPr lang="en-US" sz="1600" dirty="0" err="1">
                <a:latin typeface="Times New Roman" panose="02020603050405020304" pitchFamily="18" charset="0"/>
                <a:cs typeface="Times New Roman" panose="02020603050405020304" pitchFamily="18" charset="0"/>
              </a:rPr>
              <a:t>Payroll.total_amount</a:t>
            </a:r>
            <a:r>
              <a:rPr lang="en-US" sz="1600" dirty="0">
                <a:latin typeface="Times New Roman" panose="02020603050405020304" pitchFamily="18" charset="0"/>
                <a:cs typeface="Times New Roman" panose="02020603050405020304" pitchFamily="18" charset="0"/>
              </a:rPr>
              <a:t> field as per design.</a:t>
            </a:r>
          </a:p>
        </p:txBody>
      </p:sp>
      <p:pic>
        <p:nvPicPr>
          <p:cNvPr id="5" name="Picture 4">
            <a:extLst>
              <a:ext uri="{FF2B5EF4-FFF2-40B4-BE49-F238E27FC236}">
                <a16:creationId xmlns:a16="http://schemas.microsoft.com/office/drawing/2014/main" id="{83AE6A61-434C-443E-922A-6CA2BC0D509B}"/>
              </a:ext>
            </a:extLst>
          </p:cNvPr>
          <p:cNvPicPr>
            <a:picLocks noChangeAspect="1"/>
          </p:cNvPicPr>
          <p:nvPr/>
        </p:nvPicPr>
        <p:blipFill>
          <a:blip r:embed="rId3"/>
          <a:stretch>
            <a:fillRect/>
          </a:stretch>
        </p:blipFill>
        <p:spPr>
          <a:xfrm>
            <a:off x="208472" y="457200"/>
            <a:ext cx="5163271" cy="2105319"/>
          </a:xfrm>
          <a:prstGeom prst="rect">
            <a:avLst/>
          </a:prstGeom>
        </p:spPr>
      </p:pic>
      <p:sp>
        <p:nvSpPr>
          <p:cNvPr id="11" name="TextBox 10">
            <a:extLst>
              <a:ext uri="{FF2B5EF4-FFF2-40B4-BE49-F238E27FC236}">
                <a16:creationId xmlns:a16="http://schemas.microsoft.com/office/drawing/2014/main" id="{49D6FA33-6501-4CBC-B0F9-33041BCC7985}"/>
              </a:ext>
            </a:extLst>
          </p:cNvPr>
          <p:cNvSpPr txBox="1"/>
          <p:nvPr/>
        </p:nvSpPr>
        <p:spPr>
          <a:xfrm>
            <a:off x="455456" y="4949239"/>
            <a:ext cx="4023360"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Joins </a:t>
            </a:r>
            <a:r>
              <a:rPr lang="en-US" sz="1600" dirty="0" err="1">
                <a:latin typeface="Times New Roman" panose="02020603050405020304" pitchFamily="18" charset="0"/>
                <a:cs typeface="Times New Roman" panose="02020603050405020304" pitchFamily="18" charset="0"/>
              </a:rPr>
              <a:t>JobDepartment</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SalaryBonus</a:t>
            </a:r>
            <a:r>
              <a:rPr lang="en-US" sz="1600" dirty="0">
                <a:latin typeface="Times New Roman" panose="02020603050405020304" pitchFamily="18" charset="0"/>
                <a:cs typeface="Times New Roman" panose="02020603050405020304" pitchFamily="18" charset="0"/>
              </a:rPr>
              <a:t>. but sums bonus values.</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Orders descending to identify department with highest total bonuses</a:t>
            </a:r>
          </a:p>
        </p:txBody>
      </p:sp>
      <p:pic>
        <p:nvPicPr>
          <p:cNvPr id="6" name="Picture 5">
            <a:extLst>
              <a:ext uri="{FF2B5EF4-FFF2-40B4-BE49-F238E27FC236}">
                <a16:creationId xmlns:a16="http://schemas.microsoft.com/office/drawing/2014/main" id="{EE311A3A-80B9-441E-8B4F-8AA518B6C46A}"/>
              </a:ext>
            </a:extLst>
          </p:cNvPr>
          <p:cNvPicPr>
            <a:picLocks noChangeAspect="1"/>
          </p:cNvPicPr>
          <p:nvPr/>
        </p:nvPicPr>
        <p:blipFill>
          <a:blip r:embed="rId4"/>
          <a:stretch>
            <a:fillRect/>
          </a:stretch>
        </p:blipFill>
        <p:spPr>
          <a:xfrm>
            <a:off x="315145" y="2550727"/>
            <a:ext cx="1991003" cy="1943371"/>
          </a:xfrm>
          <a:prstGeom prst="rect">
            <a:avLst/>
          </a:prstGeom>
        </p:spPr>
      </p:pic>
      <p:pic>
        <p:nvPicPr>
          <p:cNvPr id="7" name="Picture 6">
            <a:extLst>
              <a:ext uri="{FF2B5EF4-FFF2-40B4-BE49-F238E27FC236}">
                <a16:creationId xmlns:a16="http://schemas.microsoft.com/office/drawing/2014/main" id="{F15904E1-5605-4579-B64F-A0931D1F503D}"/>
              </a:ext>
            </a:extLst>
          </p:cNvPr>
          <p:cNvPicPr>
            <a:picLocks noChangeAspect="1"/>
          </p:cNvPicPr>
          <p:nvPr/>
        </p:nvPicPr>
        <p:blipFill>
          <a:blip r:embed="rId5"/>
          <a:stretch>
            <a:fillRect/>
          </a:stretch>
        </p:blipFill>
        <p:spPr>
          <a:xfrm>
            <a:off x="5913120" y="457200"/>
            <a:ext cx="6278880" cy="2038635"/>
          </a:xfrm>
          <a:prstGeom prst="rect">
            <a:avLst/>
          </a:prstGeom>
        </p:spPr>
      </p:pic>
      <p:pic>
        <p:nvPicPr>
          <p:cNvPr id="8" name="Picture 7">
            <a:extLst>
              <a:ext uri="{FF2B5EF4-FFF2-40B4-BE49-F238E27FC236}">
                <a16:creationId xmlns:a16="http://schemas.microsoft.com/office/drawing/2014/main" id="{BEF1DB82-D858-4015-BA0A-36160D9E19A8}"/>
              </a:ext>
            </a:extLst>
          </p:cNvPr>
          <p:cNvPicPr>
            <a:picLocks noChangeAspect="1"/>
          </p:cNvPicPr>
          <p:nvPr/>
        </p:nvPicPr>
        <p:blipFill>
          <a:blip r:embed="rId6"/>
          <a:stretch>
            <a:fillRect/>
          </a:stretch>
        </p:blipFill>
        <p:spPr>
          <a:xfrm>
            <a:off x="5991995" y="2570480"/>
            <a:ext cx="2648320" cy="2086266"/>
          </a:xfrm>
          <a:prstGeom prst="rect">
            <a:avLst/>
          </a:prstGeom>
        </p:spPr>
      </p:pic>
    </p:spTree>
    <p:extLst>
      <p:ext uri="{BB962C8B-B14F-4D97-AF65-F5344CB8AC3E}">
        <p14:creationId xmlns:p14="http://schemas.microsoft.com/office/powerpoint/2010/main" val="2805036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0" y="30481"/>
            <a:ext cx="10515600" cy="701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600" b="1" dirty="0">
                <a:solidFill>
                  <a:srgbClr val="FF0000"/>
                </a:solidFill>
                <a:latin typeface="Tahoma" panose="020B0604030504040204" pitchFamily="34" charset="0"/>
                <a:ea typeface="Tahoma" panose="020B0604030504040204" pitchFamily="34" charset="0"/>
                <a:cs typeface="Tahoma" panose="020B0604030504040204" pitchFamily="34" charset="0"/>
              </a:rPr>
              <a:t>Final Business Insights</a:t>
            </a:r>
            <a:endParaRPr sz="36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1" name="Google Shape;111;p4"/>
          <p:cNvSpPr txBox="1">
            <a:spLocks noGrp="1"/>
          </p:cNvSpPr>
          <p:nvPr>
            <p:ph type="body" idx="1"/>
          </p:nvPr>
        </p:nvSpPr>
        <p:spPr>
          <a:xfrm>
            <a:off x="838200" y="1192783"/>
            <a:ext cx="10515600" cy="2236217"/>
          </a:xfrm>
          <a:prstGeom prst="rect">
            <a:avLst/>
          </a:prstGeom>
          <a:noFill/>
          <a:ln>
            <a:noFill/>
          </a:ln>
        </p:spPr>
        <p:txBody>
          <a:bodyPr spcFirstLastPara="1" wrap="square" lIns="91425" tIns="45700" rIns="91425" bIns="45700" anchor="t" anchorCtr="0">
            <a:noAutofit/>
          </a:bodyPr>
          <a:lstStyle/>
          <a:p>
            <a:r>
              <a:rPr lang="en-US" sz="2200" dirty="0">
                <a:latin typeface="Times New Roman" panose="02020603050405020304" pitchFamily="18" charset="0"/>
                <a:cs typeface="Times New Roman" panose="02020603050405020304" pitchFamily="18" charset="0"/>
              </a:rPr>
              <a:t>Departments with higher qualification requirements tend to have fewer employees but higher compensation.</a:t>
            </a:r>
          </a:p>
          <a:p>
            <a:r>
              <a:rPr lang="en-US" sz="2200" dirty="0">
                <a:latin typeface="Times New Roman" panose="02020603050405020304" pitchFamily="18" charset="0"/>
                <a:cs typeface="Times New Roman" panose="02020603050405020304" pitchFamily="18" charset="0"/>
              </a:rPr>
              <a:t>Bonuses and salary allocations vary widely between departments, highlighting areas for potential compensation optimization.</a:t>
            </a:r>
          </a:p>
          <a:p>
            <a:r>
              <a:rPr lang="en-US" sz="2200" dirty="0">
                <a:latin typeface="Times New Roman" panose="02020603050405020304" pitchFamily="18" charset="0"/>
                <a:cs typeface="Times New Roman" panose="02020603050405020304" pitchFamily="18" charset="0"/>
              </a:rPr>
              <a:t>Leave patterns indicate departments where work-life balance improvements may be needed.</a:t>
            </a:r>
          </a:p>
        </p:txBody>
      </p:sp>
      <p:sp>
        <p:nvSpPr>
          <p:cNvPr id="8" name="Google Shape;110;p4">
            <a:extLst>
              <a:ext uri="{FF2B5EF4-FFF2-40B4-BE49-F238E27FC236}">
                <a16:creationId xmlns:a16="http://schemas.microsoft.com/office/drawing/2014/main" id="{E2B1303A-7A6E-41E1-A4DD-F7839D0B5DBF}"/>
              </a:ext>
            </a:extLst>
          </p:cNvPr>
          <p:cNvSpPr txBox="1">
            <a:spLocks/>
          </p:cNvSpPr>
          <p:nvPr/>
        </p:nvSpPr>
        <p:spPr>
          <a:xfrm>
            <a:off x="222092" y="589710"/>
            <a:ext cx="10515600" cy="79454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3000" b="1" u="sng" dirty="0">
                <a:solidFill>
                  <a:schemeClr val="tx1"/>
                </a:solidFill>
                <a:latin typeface="Tahoma" panose="020B0604030504040204" pitchFamily="34" charset="0"/>
                <a:ea typeface="Tahoma" panose="020B0604030504040204" pitchFamily="34" charset="0"/>
                <a:cs typeface="Tahoma" panose="020B0604030504040204" pitchFamily="34" charset="0"/>
              </a:rPr>
              <a:t>Key Observations:</a:t>
            </a:r>
          </a:p>
        </p:txBody>
      </p:sp>
      <p:sp>
        <p:nvSpPr>
          <p:cNvPr id="9" name="Google Shape;111;p4">
            <a:extLst>
              <a:ext uri="{FF2B5EF4-FFF2-40B4-BE49-F238E27FC236}">
                <a16:creationId xmlns:a16="http://schemas.microsoft.com/office/drawing/2014/main" id="{48C11E4F-8C73-4666-94E7-087342035A0B}"/>
              </a:ext>
            </a:extLst>
          </p:cNvPr>
          <p:cNvSpPr txBox="1">
            <a:spLocks/>
          </p:cNvSpPr>
          <p:nvPr/>
        </p:nvSpPr>
        <p:spPr>
          <a:xfrm>
            <a:off x="716280" y="4032073"/>
            <a:ext cx="10515600" cy="223621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sz="2200" dirty="0">
                <a:latin typeface="Times New Roman" panose="02020603050405020304" pitchFamily="18" charset="0"/>
                <a:cs typeface="Times New Roman" panose="02020603050405020304" pitchFamily="18" charset="0"/>
              </a:rPr>
              <a:t>Enhance training in roles/positions with high qualification requirements to aid succession planning.</a:t>
            </a:r>
          </a:p>
          <a:p>
            <a:r>
              <a:rPr lang="en-US" sz="2200" dirty="0">
                <a:latin typeface="Times New Roman" panose="02020603050405020304" pitchFamily="18" charset="0"/>
                <a:cs typeface="Times New Roman" panose="02020603050405020304" pitchFamily="18" charset="0"/>
              </a:rPr>
              <a:t>Review payroll allocation and bonus structures in high-expenditure departments.</a:t>
            </a:r>
          </a:p>
          <a:p>
            <a:r>
              <a:rPr lang="en-US" sz="2200" dirty="0">
                <a:latin typeface="Times New Roman" panose="02020603050405020304" pitchFamily="18" charset="0"/>
                <a:cs typeface="Times New Roman" panose="02020603050405020304" pitchFamily="18" charset="0"/>
              </a:rPr>
              <a:t>Set benchmarks for leave and absenteeism across departments to ensure business continuity.</a:t>
            </a:r>
          </a:p>
        </p:txBody>
      </p:sp>
      <p:sp>
        <p:nvSpPr>
          <p:cNvPr id="10" name="Google Shape;110;p4">
            <a:extLst>
              <a:ext uri="{FF2B5EF4-FFF2-40B4-BE49-F238E27FC236}">
                <a16:creationId xmlns:a16="http://schemas.microsoft.com/office/drawing/2014/main" id="{076065A1-53D7-461D-91CD-44722654ADC2}"/>
              </a:ext>
            </a:extLst>
          </p:cNvPr>
          <p:cNvSpPr txBox="1">
            <a:spLocks/>
          </p:cNvSpPr>
          <p:nvPr/>
        </p:nvSpPr>
        <p:spPr>
          <a:xfrm>
            <a:off x="222092" y="3414899"/>
            <a:ext cx="10515600" cy="79454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3000" b="1" u="sng" dirty="0">
                <a:solidFill>
                  <a:schemeClr val="tx1"/>
                </a:solidFill>
                <a:latin typeface="Tahoma" panose="020B0604030504040204" pitchFamily="34" charset="0"/>
                <a:ea typeface="Tahoma" panose="020B0604030504040204" pitchFamily="34" charset="0"/>
                <a:cs typeface="Tahoma" panose="020B0604030504040204" pitchFamily="34" charset="0"/>
              </a:rPr>
              <a:t>Data Driven Recommendations:</a:t>
            </a:r>
          </a:p>
        </p:txBody>
      </p:sp>
    </p:spTree>
    <p:extLst>
      <p:ext uri="{BB962C8B-B14F-4D97-AF65-F5344CB8AC3E}">
        <p14:creationId xmlns:p14="http://schemas.microsoft.com/office/powerpoint/2010/main" val="2105436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0" y="30481"/>
            <a:ext cx="10515600" cy="701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600" b="1" dirty="0">
                <a:solidFill>
                  <a:srgbClr val="FF0000"/>
                </a:solidFill>
                <a:latin typeface="Tahoma" panose="020B0604030504040204" pitchFamily="34" charset="0"/>
                <a:ea typeface="Tahoma" panose="020B0604030504040204" pitchFamily="34" charset="0"/>
                <a:cs typeface="Tahoma" panose="020B0604030504040204" pitchFamily="34" charset="0"/>
              </a:rPr>
              <a:t>CONCLUSION:</a:t>
            </a:r>
            <a:endParaRPr sz="3600" b="1"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111" name="Google Shape;111;p4"/>
          <p:cNvSpPr txBox="1">
            <a:spLocks noGrp="1"/>
          </p:cNvSpPr>
          <p:nvPr>
            <p:ph type="body" idx="1"/>
          </p:nvPr>
        </p:nvSpPr>
        <p:spPr>
          <a:xfrm>
            <a:off x="706120" y="918463"/>
            <a:ext cx="10515600" cy="4791457"/>
          </a:xfrm>
          <a:prstGeom prst="rect">
            <a:avLst/>
          </a:prstGeom>
          <a:noFill/>
          <a:ln>
            <a:noFill/>
          </a:ln>
        </p:spPr>
        <p:txBody>
          <a:bodyPr spcFirstLastPara="1" wrap="square" lIns="91425" tIns="45700" rIns="91425" bIns="45700" anchor="t" anchorCtr="0">
            <a:noAutofit/>
          </a:bodyPr>
          <a:lstStyle/>
          <a:p>
            <a:pPr marL="114300" indent="0" algn="just">
              <a:buNone/>
            </a:pPr>
            <a:r>
              <a:rPr lang="en-US" sz="2300" dirty="0">
                <a:latin typeface="Times New Roman" panose="02020603050405020304" pitchFamily="18" charset="0"/>
                <a:cs typeface="Times New Roman" panose="02020603050405020304" pitchFamily="18" charset="0"/>
              </a:rPr>
              <a:t>The Employee Management System SQL project delivers a comprehensive and efficient solution for managing all facets of employee data within an organization. By implementing a well-structured relational database with six interlinked tables - spanning employees, job departments, qualifications, leaves, salaries, and payroll, the system ensures robust data integrity through primary keys, foreign keys, and cascading constraints. SQL-based analytical queries enable in-depth insights into workforce distribution, compensation, departmental trends, employee qualifications, absenteeism patterns, and payroll outcomes. These insights empower HR and management teams to make data-driven decisions regarding hiring, compensation planning, professional development, and employee engagement. The system’s design supports both operational needs and advanced business intelligence by mapping well to fact and dimension modeling principles. Overall, this project demonstrates the power of SQL in creating scalable, reliable, and analytics-ready HR systems that form the backbone of effective organizational management and strategic planning.</a:t>
            </a:r>
          </a:p>
        </p:txBody>
      </p:sp>
    </p:spTree>
    <p:extLst>
      <p:ext uri="{BB962C8B-B14F-4D97-AF65-F5344CB8AC3E}">
        <p14:creationId xmlns:p14="http://schemas.microsoft.com/office/powerpoint/2010/main" val="2975694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4"/>
          <p:cNvSpPr txBox="1">
            <a:spLocks noGrp="1"/>
          </p:cNvSpPr>
          <p:nvPr>
            <p:ph type="body" idx="1"/>
          </p:nvPr>
        </p:nvSpPr>
        <p:spPr>
          <a:xfrm>
            <a:off x="716280" y="1050664"/>
            <a:ext cx="10515600" cy="2236217"/>
          </a:xfrm>
          <a:prstGeom prst="rect">
            <a:avLst/>
          </a:prstGeom>
          <a:noFill/>
          <a:ln>
            <a:noFill/>
          </a:ln>
        </p:spPr>
        <p:txBody>
          <a:bodyPr spcFirstLastPara="1" wrap="square" lIns="91425" tIns="45700" rIns="91425" bIns="45700" anchor="t" anchorCtr="0">
            <a:noAutofit/>
          </a:bodyPr>
          <a:lstStyle/>
          <a:p>
            <a:r>
              <a:rPr lang="en-US" sz="2300" dirty="0">
                <a:latin typeface="Times New Roman" panose="02020603050405020304" pitchFamily="18" charset="0"/>
                <a:cs typeface="Times New Roman" panose="02020603050405020304" pitchFamily="18" charset="0"/>
              </a:rPr>
              <a:t>Gained hands-on experience designing normalized relational databases.</a:t>
            </a:r>
          </a:p>
          <a:p>
            <a:r>
              <a:rPr lang="en-US" sz="2300" dirty="0">
                <a:latin typeface="Times New Roman" panose="02020603050405020304" pitchFamily="18" charset="0"/>
                <a:cs typeface="Times New Roman" panose="02020603050405020304" pitchFamily="18" charset="0"/>
              </a:rPr>
              <a:t>Learned advanced SQL: joins, aggregations, subqueries for comprehensive reporting.</a:t>
            </a:r>
          </a:p>
          <a:p>
            <a:r>
              <a:rPr lang="en-US" sz="2300" dirty="0">
                <a:latin typeface="Times New Roman" panose="02020603050405020304" pitchFamily="18" charset="0"/>
                <a:cs typeface="Times New Roman" panose="02020603050405020304" pitchFamily="18" charset="0"/>
              </a:rPr>
              <a:t>Developed confidence in managing complex data requirements and business logic.</a:t>
            </a:r>
          </a:p>
        </p:txBody>
      </p:sp>
      <p:sp>
        <p:nvSpPr>
          <p:cNvPr id="8" name="Google Shape;110;p4">
            <a:extLst>
              <a:ext uri="{FF2B5EF4-FFF2-40B4-BE49-F238E27FC236}">
                <a16:creationId xmlns:a16="http://schemas.microsoft.com/office/drawing/2014/main" id="{E2B1303A-7A6E-41E1-A4DD-F7839D0B5DBF}"/>
              </a:ext>
            </a:extLst>
          </p:cNvPr>
          <p:cNvSpPr txBox="1">
            <a:spLocks/>
          </p:cNvSpPr>
          <p:nvPr/>
        </p:nvSpPr>
        <p:spPr>
          <a:xfrm>
            <a:off x="222092" y="266158"/>
            <a:ext cx="10515600" cy="79454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3000" b="1" u="sng" dirty="0">
                <a:solidFill>
                  <a:schemeClr val="tx1"/>
                </a:solidFill>
                <a:latin typeface="Tahoma" panose="020B0604030504040204" pitchFamily="34" charset="0"/>
                <a:ea typeface="Tahoma" panose="020B0604030504040204" pitchFamily="34" charset="0"/>
                <a:cs typeface="Tahoma" panose="020B0604030504040204" pitchFamily="34" charset="0"/>
              </a:rPr>
              <a:t>Personal Experience</a:t>
            </a:r>
          </a:p>
        </p:txBody>
      </p:sp>
      <p:sp>
        <p:nvSpPr>
          <p:cNvPr id="9" name="Google Shape;111;p4">
            <a:extLst>
              <a:ext uri="{FF2B5EF4-FFF2-40B4-BE49-F238E27FC236}">
                <a16:creationId xmlns:a16="http://schemas.microsoft.com/office/drawing/2014/main" id="{48C11E4F-8C73-4666-94E7-087342035A0B}"/>
              </a:ext>
            </a:extLst>
          </p:cNvPr>
          <p:cNvSpPr txBox="1">
            <a:spLocks/>
          </p:cNvSpPr>
          <p:nvPr/>
        </p:nvSpPr>
        <p:spPr>
          <a:xfrm>
            <a:off x="716280" y="3826272"/>
            <a:ext cx="10515600" cy="26354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sz="2300" dirty="0">
                <a:latin typeface="Times New Roman" panose="02020603050405020304" pitchFamily="18" charset="0"/>
                <a:cs typeface="Times New Roman" panose="02020603050405020304" pitchFamily="18" charset="0"/>
              </a:rPr>
              <a:t>Defining proper foreign key constraints to maintain referential integrity and handle cascading updates/deletes.</a:t>
            </a:r>
          </a:p>
          <a:p>
            <a:r>
              <a:rPr lang="en-US" sz="2300" dirty="0">
                <a:latin typeface="Times New Roman" panose="02020603050405020304" pitchFamily="18" charset="0"/>
                <a:cs typeface="Times New Roman" panose="02020603050405020304" pitchFamily="18" charset="0"/>
              </a:rPr>
              <a:t>Writing advanced queries involving multiple joins for cross-module analytics.</a:t>
            </a:r>
          </a:p>
          <a:p>
            <a:r>
              <a:rPr lang="en-US" sz="2300" dirty="0">
                <a:latin typeface="Times New Roman" panose="02020603050405020304" pitchFamily="18" charset="0"/>
                <a:cs typeface="Times New Roman" panose="02020603050405020304" pitchFamily="18" charset="0"/>
              </a:rPr>
              <a:t>Ensuring data consistency across modules and avoiding duplicate or orphaned records.</a:t>
            </a:r>
          </a:p>
          <a:p>
            <a:r>
              <a:rPr lang="en-US" sz="2300" dirty="0">
                <a:latin typeface="Times New Roman" panose="02020603050405020304" pitchFamily="18" charset="0"/>
                <a:cs typeface="Times New Roman" panose="02020603050405020304" pitchFamily="18" charset="0"/>
              </a:rPr>
              <a:t>Addressed issues with date formatting and data preparation for analytics.</a:t>
            </a:r>
          </a:p>
        </p:txBody>
      </p:sp>
      <p:sp>
        <p:nvSpPr>
          <p:cNvPr id="10" name="Google Shape;110;p4">
            <a:extLst>
              <a:ext uri="{FF2B5EF4-FFF2-40B4-BE49-F238E27FC236}">
                <a16:creationId xmlns:a16="http://schemas.microsoft.com/office/drawing/2014/main" id="{076065A1-53D7-461D-91CD-44722654ADC2}"/>
              </a:ext>
            </a:extLst>
          </p:cNvPr>
          <p:cNvSpPr txBox="1">
            <a:spLocks/>
          </p:cNvSpPr>
          <p:nvPr/>
        </p:nvSpPr>
        <p:spPr>
          <a:xfrm>
            <a:off x="222092" y="3031727"/>
            <a:ext cx="10515600" cy="794545"/>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FF0000"/>
              </a:buClr>
              <a:buSzPts val="4400"/>
            </a:pPr>
            <a:r>
              <a:rPr lang="en-US" sz="3000" b="1" u="sng" dirty="0">
                <a:solidFill>
                  <a:schemeClr val="tx1"/>
                </a:solidFill>
                <a:latin typeface="Tahoma" panose="020B0604030504040204" pitchFamily="34" charset="0"/>
                <a:ea typeface="Tahoma" panose="020B0604030504040204" pitchFamily="34" charset="0"/>
                <a:cs typeface="Tahoma" panose="020B0604030504040204" pitchFamily="34" charset="0"/>
              </a:rPr>
              <a:t>Challenges Faced:</a:t>
            </a:r>
          </a:p>
        </p:txBody>
      </p:sp>
    </p:spTree>
    <p:extLst>
      <p:ext uri="{BB962C8B-B14F-4D97-AF65-F5344CB8AC3E}">
        <p14:creationId xmlns:p14="http://schemas.microsoft.com/office/powerpoint/2010/main" val="37838185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1293</Words>
  <Application>Microsoft Office PowerPoint</Application>
  <PresentationFormat>Widescreen</PresentationFormat>
  <Paragraphs>120</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Lato Black</vt:lpstr>
      <vt:lpstr>Arial</vt:lpstr>
      <vt:lpstr>Times New Roman</vt:lpstr>
      <vt:lpstr>Libre Baskerville</vt:lpstr>
      <vt:lpstr>Tahoma</vt:lpstr>
      <vt:lpstr>Calibri</vt:lpstr>
      <vt:lpstr>Office Theme</vt:lpstr>
      <vt:lpstr>PowerPoint Presentation</vt:lpstr>
      <vt:lpstr>PowerPoint Presentation</vt:lpstr>
      <vt:lpstr>Objective:</vt:lpstr>
      <vt:lpstr>Schema Explanation:</vt:lpstr>
      <vt:lpstr>Fact Table:</vt:lpstr>
      <vt:lpstr>Employee Insights:</vt:lpstr>
      <vt:lpstr>Employee Insights:</vt:lpstr>
      <vt:lpstr>Employee Insights:</vt:lpstr>
      <vt:lpstr>JOB ROLE AND DEPARTMENT ANALYSIS</vt:lpstr>
      <vt:lpstr>JOB ROLE AND DEPARTMENT ANALYSIS</vt:lpstr>
      <vt:lpstr>QUALIFICATION AND SKILLS ANALYSIS</vt:lpstr>
      <vt:lpstr>QUALIFICATION AND SKILLS ANALYSIS</vt:lpstr>
      <vt:lpstr>LEAVE AND ABSENCE PATTERNS</vt:lpstr>
      <vt:lpstr>LEAVE AND ABSENCE PATTERNS</vt:lpstr>
      <vt:lpstr>LEAVE AND ABSENCE PATTERNS</vt:lpstr>
      <vt:lpstr>PAYROLL AND COMPENSATION ANALYSIS</vt:lpstr>
      <vt:lpstr>PAYROLL AND COMPENSATION ANALYSIS</vt:lpstr>
      <vt:lpstr>Final Business Insights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Pavan Sai Kuppannagari</cp:lastModifiedBy>
  <cp:revision>70</cp:revision>
  <dcterms:created xsi:type="dcterms:W3CDTF">2021-02-16T05:19:01Z</dcterms:created>
  <dcterms:modified xsi:type="dcterms:W3CDTF">2025-11-25T06:40:57Z</dcterms:modified>
</cp:coreProperties>
</file>